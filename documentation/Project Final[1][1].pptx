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1.xml" ContentType="application/inkml+xml"/>
  <Override PartName="/ppt/ink/ink2.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88" r:id="rId12"/>
    <p:sldId id="274" r:id="rId13"/>
    <p:sldId id="279" r:id="rId14"/>
    <p:sldId id="270" r:id="rId15"/>
    <p:sldId id="271" r:id="rId16"/>
    <p:sldId id="273" r:id="rId17"/>
    <p:sldId id="266" r:id="rId18"/>
    <p:sldId id="267" r:id="rId19"/>
    <p:sldId id="269" r:id="rId20"/>
    <p:sldId id="280" r:id="rId21"/>
    <p:sldId id="282" r:id="rId22"/>
    <p:sldId id="283" r:id="rId23"/>
    <p:sldId id="285" r:id="rId24"/>
    <p:sldId id="286" r:id="rId25"/>
    <p:sldId id="289" r:id="rId26"/>
    <p:sldId id="290" r:id="rId27"/>
    <p:sldId id="284" r:id="rId28"/>
  </p:sldIdLst>
  <p:sldSz cx="12192000" cy="6858000"/>
  <p:notesSz cx="12192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iwcpuEwSjD6f31mj+/zFdxYsRgf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6339A65-334F-4BDC-BE0B-82BCC501CBD1}">
  <a:tblStyle styleId="{36339A65-334F-4BDC-BE0B-82BCC501CBD1}"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4T06:47:22.79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4T06:47:28.913"/>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 name="Google Shape;42;p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 name="Google Shape;49;p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 name="Google Shape;55;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 name="Google Shape;61;p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 name="Google Shape;79;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9" name="Google Shape;99;p1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1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2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1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1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1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1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1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1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1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2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2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2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p2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14" name="Google Shape;214;p2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type="obj">
  <p:cSld name="OBJECT">
    <p:bg>
      <p:bgPr>
        <a:solidFill>
          <a:schemeClr val="lt1"/>
        </a:solidFill>
        <a:effectLst/>
      </p:bgPr>
    </p:bg>
    <p:spTree>
      <p:nvGrpSpPr>
        <p:cNvPr id="1" name="Shape 11"/>
        <p:cNvGrpSpPr/>
        <p:nvPr/>
      </p:nvGrpSpPr>
      <p:grpSpPr>
        <a:xfrm>
          <a:off x="0" y="0"/>
          <a:ext cx="0" cy="0"/>
          <a:chOff x="0" y="0"/>
          <a:chExt cx="0" cy="0"/>
        </a:xfrm>
      </p:grpSpPr>
      <p:pic>
        <p:nvPicPr>
          <p:cNvPr id="12" name="Google Shape;12;p31"/>
          <p:cNvPicPr preferRelativeResize="0"/>
          <p:nvPr/>
        </p:nvPicPr>
        <p:blipFill rotWithShape="1">
          <a:blip r:embed="rId2">
            <a:alphaModFix/>
          </a:blip>
          <a:srcRect/>
          <a:stretch/>
        </p:blipFill>
        <p:spPr>
          <a:xfrm>
            <a:off x="5087111" y="228600"/>
            <a:ext cx="999743" cy="886967"/>
          </a:xfrm>
          <a:prstGeom prst="rect">
            <a:avLst/>
          </a:prstGeom>
          <a:noFill/>
          <a:ln>
            <a:noFill/>
          </a:ln>
        </p:spPr>
      </p:pic>
      <p:sp>
        <p:nvSpPr>
          <p:cNvPr id="13" name="Google Shape;13;p3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3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31"/>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
        <p:cNvGrpSpPr/>
        <p:nvPr/>
      </p:nvGrpSpPr>
      <p:grpSpPr>
        <a:xfrm>
          <a:off x="0" y="0"/>
          <a:ext cx="0" cy="0"/>
          <a:chOff x="0" y="0"/>
          <a:chExt cx="0" cy="0"/>
        </a:xfrm>
      </p:grpSpPr>
      <p:sp>
        <p:nvSpPr>
          <p:cNvPr id="17" name="Google Shape;17;p32"/>
          <p:cNvSpPr txBox="1">
            <a:spLocks noGrp="1"/>
          </p:cNvSpPr>
          <p:nvPr>
            <p:ph type="title"/>
          </p:nvPr>
        </p:nvSpPr>
        <p:spPr>
          <a:xfrm>
            <a:off x="931570" y="201625"/>
            <a:ext cx="10229951" cy="1122933"/>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600" b="0" i="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32"/>
          <p:cNvSpPr txBox="1">
            <a:spLocks noGrp="1"/>
          </p:cNvSpPr>
          <p:nvPr>
            <p:ph type="body" idx="1"/>
          </p:nvPr>
        </p:nvSpPr>
        <p:spPr>
          <a:xfrm>
            <a:off x="687400" y="1940620"/>
            <a:ext cx="10817199" cy="310832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400" b="0" i="0">
                <a:solidFill>
                  <a:srgbClr val="202020"/>
                </a:solidFill>
                <a:latin typeface="Times New Roman"/>
                <a:ea typeface="Times New Roman"/>
                <a:cs typeface="Times New Roman"/>
                <a:sym typeface="Times New Roman"/>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32"/>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2"/>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2"/>
        <p:cNvGrpSpPr/>
        <p:nvPr/>
      </p:nvGrpSpPr>
      <p:grpSpPr>
        <a:xfrm>
          <a:off x="0" y="0"/>
          <a:ext cx="0" cy="0"/>
          <a:chOff x="0" y="0"/>
          <a:chExt cx="0" cy="0"/>
        </a:xfrm>
      </p:grpSpPr>
      <p:sp>
        <p:nvSpPr>
          <p:cNvPr id="23" name="Google Shape;23;p33"/>
          <p:cNvSpPr txBox="1">
            <a:spLocks noGrp="1"/>
          </p:cNvSpPr>
          <p:nvPr>
            <p:ph type="title"/>
          </p:nvPr>
        </p:nvSpPr>
        <p:spPr>
          <a:xfrm>
            <a:off x="931570" y="201625"/>
            <a:ext cx="10229951" cy="1122933"/>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600" b="0" i="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3"/>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33"/>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7"/>
        <p:cNvGrpSpPr/>
        <p:nvPr/>
      </p:nvGrpSpPr>
      <p:grpSpPr>
        <a:xfrm>
          <a:off x="0" y="0"/>
          <a:ext cx="0" cy="0"/>
          <a:chOff x="0" y="0"/>
          <a:chExt cx="0" cy="0"/>
        </a:xfrm>
      </p:grpSpPr>
      <p:sp>
        <p:nvSpPr>
          <p:cNvPr id="28" name="Google Shape;28;p34"/>
          <p:cNvSpPr txBox="1">
            <a:spLocks noGrp="1"/>
          </p:cNvSpPr>
          <p:nvPr>
            <p:ph type="ctrTitle"/>
          </p:nvPr>
        </p:nvSpPr>
        <p:spPr>
          <a:xfrm>
            <a:off x="914400" y="2125980"/>
            <a:ext cx="10363200" cy="14401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600" b="0" i="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4"/>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0" i="0">
                <a:solidFill>
                  <a:srgbClr val="202020"/>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4"/>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3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34"/>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3"/>
        <p:cNvGrpSpPr/>
        <p:nvPr/>
      </p:nvGrpSpPr>
      <p:grpSpPr>
        <a:xfrm>
          <a:off x="0" y="0"/>
          <a:ext cx="0" cy="0"/>
          <a:chOff x="0" y="0"/>
          <a:chExt cx="0" cy="0"/>
        </a:xfrm>
      </p:grpSpPr>
      <p:sp>
        <p:nvSpPr>
          <p:cNvPr id="34" name="Google Shape;34;p35"/>
          <p:cNvSpPr txBox="1">
            <a:spLocks noGrp="1"/>
          </p:cNvSpPr>
          <p:nvPr>
            <p:ph type="title"/>
          </p:nvPr>
        </p:nvSpPr>
        <p:spPr>
          <a:xfrm>
            <a:off x="931570" y="201625"/>
            <a:ext cx="10229951" cy="1122933"/>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600" b="0" i="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5"/>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6" name="Google Shape;36;p35"/>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7" name="Google Shape;37;p35"/>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35"/>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35"/>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0"/>
          <p:cNvSpPr txBox="1">
            <a:spLocks noGrp="1"/>
          </p:cNvSpPr>
          <p:nvPr>
            <p:ph type="title"/>
          </p:nvPr>
        </p:nvSpPr>
        <p:spPr>
          <a:xfrm>
            <a:off x="931570" y="201625"/>
            <a:ext cx="10229951" cy="1122933"/>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600" b="0" i="0" u="none" strike="noStrike" cap="non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0"/>
          <p:cNvSpPr txBox="1">
            <a:spLocks noGrp="1"/>
          </p:cNvSpPr>
          <p:nvPr>
            <p:ph type="body" idx="1"/>
          </p:nvPr>
        </p:nvSpPr>
        <p:spPr>
          <a:xfrm>
            <a:off x="687400" y="1940620"/>
            <a:ext cx="10817199" cy="3108325"/>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400" b="0" i="0" u="none" strike="noStrike" cap="none">
                <a:solidFill>
                  <a:srgbClr val="202020"/>
                </a:solidFill>
                <a:latin typeface="Times New Roman"/>
                <a:ea typeface="Times New Roman"/>
                <a:cs typeface="Times New Roman"/>
                <a:sym typeface="Times New Roman"/>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8" name="Google Shape;8;p30"/>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30"/>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30"/>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jpg"/></Relationships>
</file>

<file path=ppt/slides/_rels/slide1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customXml" Target="../ink/ink2.xml"/><Relationship Id="rId4" Type="http://schemas.openxmlformats.org/officeDocument/2006/relationships/image" Target="../media/image6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8.jp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1"/>
          <p:cNvSpPr txBox="1"/>
          <p:nvPr/>
        </p:nvSpPr>
        <p:spPr>
          <a:xfrm>
            <a:off x="1142796" y="1214754"/>
            <a:ext cx="9886315" cy="2408352"/>
          </a:xfrm>
          <a:prstGeom prst="rect">
            <a:avLst/>
          </a:prstGeom>
          <a:noFill/>
          <a:ln>
            <a:noFill/>
          </a:ln>
        </p:spPr>
        <p:txBody>
          <a:bodyPr spcFirstLastPara="1" wrap="square" lIns="0" tIns="12700" rIns="0" bIns="0" anchor="t" anchorCtr="0">
            <a:spAutoFit/>
          </a:bodyPr>
          <a:lstStyle/>
          <a:p>
            <a:pPr marL="0" marR="5080" lvl="0" indent="0" algn="ctr" rtl="0">
              <a:lnSpc>
                <a:spcPct val="100000"/>
              </a:lnSpc>
              <a:spcBef>
                <a:spcPts val="0"/>
              </a:spcBef>
              <a:spcAft>
                <a:spcPts val="0"/>
              </a:spcAft>
              <a:buNone/>
            </a:pPr>
            <a:r>
              <a:rPr lang="en-US" sz="1600" b="1" dirty="0" err="1">
                <a:latin typeface="Times New Roman"/>
                <a:ea typeface="Times New Roman"/>
                <a:cs typeface="Times New Roman"/>
                <a:sym typeface="Times New Roman"/>
              </a:rPr>
              <a:t>Avinashilingam</a:t>
            </a:r>
            <a:r>
              <a:rPr lang="en-US" sz="1600" b="1" dirty="0">
                <a:latin typeface="Times New Roman"/>
                <a:ea typeface="Times New Roman"/>
                <a:cs typeface="Times New Roman"/>
                <a:sym typeface="Times New Roman"/>
              </a:rPr>
              <a:t> Institute for Home Science &amp; Higher Education for Women (Deemed to be</a:t>
            </a:r>
            <a:endParaRPr sz="1600" dirty="0">
              <a:latin typeface="Times New Roman"/>
              <a:ea typeface="Times New Roman"/>
              <a:cs typeface="Times New Roman"/>
              <a:sym typeface="Times New Roman"/>
            </a:endParaRPr>
          </a:p>
          <a:p>
            <a:pPr marL="0" marR="45720" lvl="0" indent="0" algn="ctr" rtl="0">
              <a:lnSpc>
                <a:spcPct val="100000"/>
              </a:lnSpc>
              <a:spcBef>
                <a:spcPts val="95"/>
              </a:spcBef>
              <a:spcAft>
                <a:spcPts val="0"/>
              </a:spcAft>
              <a:buNone/>
            </a:pPr>
            <a:r>
              <a:rPr lang="en-US" sz="1600" b="1" dirty="0">
                <a:latin typeface="Times New Roman"/>
                <a:ea typeface="Times New Roman"/>
                <a:cs typeface="Times New Roman"/>
                <a:sym typeface="Times New Roman"/>
              </a:rPr>
              <a:t>University under Category ‘A’ by MHRD, </a:t>
            </a:r>
            <a:r>
              <a:rPr lang="en-US" sz="1600" b="1" dirty="0" err="1">
                <a:latin typeface="Times New Roman"/>
                <a:ea typeface="Times New Roman"/>
                <a:cs typeface="Times New Roman"/>
                <a:sym typeface="Times New Roman"/>
              </a:rPr>
              <a:t>Estd</a:t>
            </a:r>
            <a:r>
              <a:rPr lang="en-US" sz="1600" b="1" dirty="0">
                <a:latin typeface="Times New Roman"/>
                <a:ea typeface="Times New Roman"/>
                <a:cs typeface="Times New Roman"/>
                <a:sym typeface="Times New Roman"/>
              </a:rPr>
              <a:t>. u/s 3 of UGC Act</a:t>
            </a:r>
            <a:r>
              <a:rPr lang="en-US" sz="1600" dirty="0">
                <a:latin typeface="Times New Roman"/>
                <a:ea typeface="Times New Roman"/>
                <a:cs typeface="Times New Roman"/>
                <a:sym typeface="Times New Roman"/>
              </a:rPr>
              <a:t> </a:t>
            </a:r>
            <a:r>
              <a:rPr lang="en-US" sz="1600" b="1" dirty="0">
                <a:latin typeface="Times New Roman"/>
                <a:ea typeface="Times New Roman"/>
                <a:cs typeface="Times New Roman"/>
                <a:sym typeface="Times New Roman"/>
              </a:rPr>
              <a:t>1956)</a:t>
            </a:r>
            <a:endParaRPr sz="1600" dirty="0">
              <a:latin typeface="Times New Roman"/>
              <a:ea typeface="Times New Roman"/>
              <a:cs typeface="Times New Roman"/>
              <a:sym typeface="Times New Roman"/>
            </a:endParaRPr>
          </a:p>
          <a:p>
            <a:pPr marL="0" marR="22225" lvl="0" indent="0" algn="ctr" rtl="0">
              <a:lnSpc>
                <a:spcPct val="100000"/>
              </a:lnSpc>
              <a:spcBef>
                <a:spcPts val="125"/>
              </a:spcBef>
              <a:spcAft>
                <a:spcPts val="0"/>
              </a:spcAft>
              <a:buNone/>
            </a:pPr>
            <a:r>
              <a:rPr lang="en-US" sz="1600" b="1" dirty="0">
                <a:latin typeface="Times New Roman"/>
                <a:ea typeface="Times New Roman"/>
                <a:cs typeface="Times New Roman"/>
                <a:sym typeface="Times New Roman"/>
              </a:rPr>
              <a:t>Re-accredited with ‘A++’ Grade by NAAC. </a:t>
            </a:r>
            <a:r>
              <a:rPr lang="en-US" sz="1600" b="1" dirty="0" err="1">
                <a:latin typeface="Times New Roman"/>
                <a:ea typeface="Times New Roman"/>
                <a:cs typeface="Times New Roman"/>
                <a:sym typeface="Times New Roman"/>
              </a:rPr>
              <a:t>Recognised</a:t>
            </a:r>
            <a:r>
              <a:rPr lang="en-US" sz="1600" b="1" dirty="0">
                <a:latin typeface="Times New Roman"/>
                <a:ea typeface="Times New Roman"/>
                <a:cs typeface="Times New Roman"/>
                <a:sym typeface="Times New Roman"/>
              </a:rPr>
              <a:t> by UGC Under Section 12B Coimbatore –</a:t>
            </a:r>
            <a:endParaRPr sz="1600" dirty="0">
              <a:latin typeface="Times New Roman"/>
              <a:ea typeface="Times New Roman"/>
              <a:cs typeface="Times New Roman"/>
              <a:sym typeface="Times New Roman"/>
            </a:endParaRPr>
          </a:p>
          <a:p>
            <a:pPr marL="121920" lvl="0" indent="0" algn="ctr" rtl="0">
              <a:lnSpc>
                <a:spcPct val="100000"/>
              </a:lnSpc>
              <a:spcBef>
                <a:spcPts val="0"/>
              </a:spcBef>
              <a:spcAft>
                <a:spcPts val="0"/>
              </a:spcAft>
              <a:buNone/>
            </a:pPr>
            <a:r>
              <a:rPr lang="en-US" sz="1600" b="1" dirty="0">
                <a:latin typeface="Times New Roman"/>
                <a:ea typeface="Times New Roman"/>
                <a:cs typeface="Times New Roman"/>
                <a:sym typeface="Times New Roman"/>
              </a:rPr>
              <a:t>641043, Tamil Nadu, India</a:t>
            </a:r>
            <a:endParaRPr sz="1600" dirty="0">
              <a:latin typeface="Times New Roman"/>
              <a:ea typeface="Times New Roman"/>
              <a:cs typeface="Times New Roman"/>
              <a:sym typeface="Times New Roman"/>
            </a:endParaRPr>
          </a:p>
          <a:p>
            <a:pPr marL="813435" lvl="0" indent="0" algn="ctr" rtl="0">
              <a:lnSpc>
                <a:spcPct val="100000"/>
              </a:lnSpc>
              <a:spcBef>
                <a:spcPts val="1200"/>
              </a:spcBef>
              <a:spcAft>
                <a:spcPts val="0"/>
              </a:spcAft>
              <a:buNone/>
            </a:pPr>
            <a:r>
              <a:rPr lang="en-US" sz="1800" b="1" dirty="0">
                <a:latin typeface="Times New Roman"/>
                <a:ea typeface="Times New Roman"/>
                <a:cs typeface="Times New Roman"/>
                <a:sym typeface="Times New Roman"/>
              </a:rPr>
              <a:t>SCHOOLOF  ENGINEERING</a:t>
            </a:r>
            <a:endParaRPr sz="1800" dirty="0">
              <a:latin typeface="Times New Roman"/>
              <a:ea typeface="Times New Roman"/>
              <a:cs typeface="Times New Roman"/>
              <a:sym typeface="Times New Roman"/>
            </a:endParaRPr>
          </a:p>
          <a:p>
            <a:pPr marL="807720" lvl="0" indent="0" algn="ctr" rtl="0">
              <a:lnSpc>
                <a:spcPct val="100000"/>
              </a:lnSpc>
              <a:spcBef>
                <a:spcPts val="315"/>
              </a:spcBef>
              <a:spcAft>
                <a:spcPts val="0"/>
              </a:spcAft>
              <a:buNone/>
            </a:pPr>
            <a:r>
              <a:rPr lang="en-US" sz="1800" b="1" dirty="0">
                <a:latin typeface="Times New Roman"/>
                <a:ea typeface="Times New Roman"/>
                <a:cs typeface="Times New Roman"/>
                <a:sym typeface="Times New Roman"/>
              </a:rPr>
              <a:t>DEPARTMENT OF COMPUTER SCIENCE AND ENGINEERING</a:t>
            </a:r>
            <a:endParaRPr sz="1800" dirty="0">
              <a:latin typeface="Times New Roman"/>
              <a:ea typeface="Times New Roman"/>
              <a:cs typeface="Times New Roman"/>
              <a:sym typeface="Times New Roman"/>
            </a:endParaRPr>
          </a:p>
          <a:p>
            <a:pPr marL="817880" lvl="0" indent="0" algn="ctr" rtl="0">
              <a:lnSpc>
                <a:spcPct val="100000"/>
              </a:lnSpc>
              <a:spcBef>
                <a:spcPts val="2065"/>
              </a:spcBef>
              <a:spcAft>
                <a:spcPts val="0"/>
              </a:spcAft>
              <a:buNone/>
            </a:pPr>
            <a:r>
              <a:rPr lang="en-US" sz="2400" b="1" dirty="0">
                <a:latin typeface="Times New Roman"/>
                <a:ea typeface="Times New Roman"/>
                <a:cs typeface="Times New Roman"/>
                <a:sym typeface="Times New Roman"/>
              </a:rPr>
              <a:t>LOST NO MORE USING AI</a:t>
            </a:r>
            <a:endParaRPr sz="2400" dirty="0">
              <a:latin typeface="Times New Roman"/>
              <a:ea typeface="Times New Roman"/>
              <a:cs typeface="Times New Roman"/>
              <a:sym typeface="Times New Roman"/>
            </a:endParaRPr>
          </a:p>
        </p:txBody>
      </p:sp>
      <p:sp>
        <p:nvSpPr>
          <p:cNvPr id="45" name="Google Shape;45;p1"/>
          <p:cNvSpPr txBox="1"/>
          <p:nvPr/>
        </p:nvSpPr>
        <p:spPr>
          <a:xfrm>
            <a:off x="7946116" y="4324652"/>
            <a:ext cx="2830195" cy="1884475"/>
          </a:xfrm>
          <a:prstGeom prst="rect">
            <a:avLst/>
          </a:prstGeom>
          <a:noFill/>
          <a:ln>
            <a:noFill/>
          </a:ln>
        </p:spPr>
        <p:txBody>
          <a:bodyPr spcFirstLastPara="1" wrap="square" lIns="0" tIns="12050" rIns="0" bIns="0" anchor="t" anchorCtr="0">
            <a:spAutoFit/>
          </a:bodyPr>
          <a:lstStyle/>
          <a:p>
            <a:pPr marL="67310" marR="752475" lvl="0" indent="-55244" rtl="0">
              <a:lnSpc>
                <a:spcPct val="150000"/>
              </a:lnSpc>
              <a:spcBef>
                <a:spcPts val="0"/>
              </a:spcBef>
              <a:spcAft>
                <a:spcPts val="0"/>
              </a:spcAft>
              <a:buNone/>
            </a:pPr>
            <a:r>
              <a:rPr lang="en-US" sz="1500" b="1" dirty="0">
                <a:latin typeface="Times New Roman"/>
                <a:ea typeface="Times New Roman"/>
                <a:cs typeface="Times New Roman"/>
                <a:sym typeface="Times New Roman"/>
              </a:rPr>
              <a:t>PRESENTED BY </a:t>
            </a:r>
          </a:p>
          <a:p>
            <a:pPr marL="67310" marR="752475" lvl="0" indent="-55244" rtl="0">
              <a:lnSpc>
                <a:spcPct val="150000"/>
              </a:lnSpc>
              <a:spcBef>
                <a:spcPts val="0"/>
              </a:spcBef>
              <a:spcAft>
                <a:spcPts val="0"/>
              </a:spcAft>
              <a:buNone/>
            </a:pPr>
            <a:r>
              <a:rPr lang="en-US" sz="1500" dirty="0">
                <a:latin typeface="Times New Roman"/>
                <a:ea typeface="Times New Roman"/>
                <a:cs typeface="Times New Roman"/>
                <a:sym typeface="Times New Roman"/>
              </a:rPr>
              <a:t>Asvika N (21009UEA03)</a:t>
            </a:r>
            <a:endParaRPr sz="1500" dirty="0">
              <a:latin typeface="Times New Roman"/>
              <a:ea typeface="Times New Roman"/>
              <a:cs typeface="Times New Roman"/>
              <a:sym typeface="Times New Roman"/>
            </a:endParaRPr>
          </a:p>
          <a:p>
            <a:pPr marL="12700" lvl="0" indent="0" rtl="0">
              <a:lnSpc>
                <a:spcPct val="150000"/>
              </a:lnSpc>
              <a:spcBef>
                <a:spcPts val="340"/>
              </a:spcBef>
              <a:spcAft>
                <a:spcPts val="0"/>
              </a:spcAft>
              <a:buNone/>
            </a:pPr>
            <a:r>
              <a:rPr lang="en-US" sz="1500" dirty="0">
                <a:latin typeface="Times New Roman"/>
                <a:ea typeface="Times New Roman"/>
                <a:cs typeface="Times New Roman"/>
                <a:sym typeface="Times New Roman"/>
              </a:rPr>
              <a:t>Avanthika K S (21012UEA05)</a:t>
            </a:r>
            <a:endParaRPr sz="1500" dirty="0">
              <a:latin typeface="Times New Roman"/>
              <a:ea typeface="Times New Roman"/>
              <a:cs typeface="Times New Roman"/>
              <a:sym typeface="Times New Roman"/>
            </a:endParaRPr>
          </a:p>
          <a:p>
            <a:pPr marL="12700" lvl="0" indent="0" rtl="0">
              <a:lnSpc>
                <a:spcPct val="150000"/>
              </a:lnSpc>
              <a:spcBef>
                <a:spcPts val="695"/>
              </a:spcBef>
              <a:spcAft>
                <a:spcPts val="0"/>
              </a:spcAft>
              <a:buNone/>
            </a:pPr>
            <a:r>
              <a:rPr lang="en-US" sz="1500" dirty="0">
                <a:latin typeface="Times New Roman"/>
                <a:ea typeface="Times New Roman"/>
                <a:cs typeface="Times New Roman"/>
                <a:sym typeface="Times New Roman"/>
              </a:rPr>
              <a:t>Harshini AV S (21037UEA09)</a:t>
            </a:r>
            <a:endParaRPr sz="1500" dirty="0">
              <a:latin typeface="Times New Roman"/>
              <a:ea typeface="Times New Roman"/>
              <a:cs typeface="Times New Roman"/>
              <a:sym typeface="Times New Roman"/>
            </a:endParaRPr>
          </a:p>
          <a:p>
            <a:pPr lvl="0" indent="0" rtl="0">
              <a:lnSpc>
                <a:spcPct val="150000"/>
              </a:lnSpc>
              <a:spcBef>
                <a:spcPts val="100"/>
              </a:spcBef>
              <a:spcAft>
                <a:spcPts val="0"/>
              </a:spcAft>
              <a:buNone/>
            </a:pPr>
            <a:r>
              <a:rPr lang="en-US" sz="1500" dirty="0">
                <a:latin typeface="Times New Roman"/>
                <a:ea typeface="Times New Roman"/>
                <a:cs typeface="Times New Roman"/>
                <a:sym typeface="Times New Roman"/>
              </a:rPr>
              <a:t>Raga </a:t>
            </a:r>
            <a:r>
              <a:rPr lang="en-US" sz="1500" dirty="0" err="1">
                <a:latin typeface="Times New Roman"/>
                <a:ea typeface="Times New Roman"/>
                <a:cs typeface="Times New Roman"/>
                <a:sym typeface="Times New Roman"/>
              </a:rPr>
              <a:t>Nitharsana</a:t>
            </a:r>
            <a:r>
              <a:rPr lang="en-US" sz="1500" dirty="0">
                <a:latin typeface="Times New Roman"/>
                <a:ea typeface="Times New Roman"/>
                <a:cs typeface="Times New Roman"/>
                <a:sym typeface="Times New Roman"/>
              </a:rPr>
              <a:t> C (21093UEA16)</a:t>
            </a:r>
            <a:endParaRPr sz="1500" dirty="0">
              <a:latin typeface="Times New Roman"/>
              <a:ea typeface="Times New Roman"/>
              <a:cs typeface="Times New Roman"/>
              <a:sym typeface="Times New Roman"/>
            </a:endParaRPr>
          </a:p>
        </p:txBody>
      </p:sp>
      <p:sp>
        <p:nvSpPr>
          <p:cNvPr id="46" name="Google Shape;46;p1"/>
          <p:cNvSpPr txBox="1"/>
          <p:nvPr/>
        </p:nvSpPr>
        <p:spPr>
          <a:xfrm>
            <a:off x="1033796" y="4699302"/>
            <a:ext cx="1817558" cy="1127125"/>
          </a:xfrm>
          <a:prstGeom prst="rect">
            <a:avLst/>
          </a:prstGeom>
          <a:noFill/>
          <a:ln>
            <a:noFill/>
          </a:ln>
        </p:spPr>
        <p:txBody>
          <a:bodyPr spcFirstLastPara="1" wrap="square" lIns="0" tIns="130175" rIns="0" bIns="0" anchor="t" anchorCtr="0">
            <a:spAutoFit/>
          </a:bodyPr>
          <a:lstStyle/>
          <a:p>
            <a:pPr marL="12700" lvl="0" indent="0" algn="l" rtl="0">
              <a:lnSpc>
                <a:spcPct val="100000"/>
              </a:lnSpc>
              <a:spcBef>
                <a:spcPts val="0"/>
              </a:spcBef>
              <a:spcAft>
                <a:spcPts val="0"/>
              </a:spcAft>
              <a:buNone/>
            </a:pPr>
            <a:r>
              <a:rPr lang="en-US" sz="1550" b="1" dirty="0">
                <a:latin typeface="Times New Roman"/>
                <a:ea typeface="Times New Roman"/>
                <a:cs typeface="Times New Roman"/>
                <a:sym typeface="Times New Roman"/>
              </a:rPr>
              <a:t>GUIDED BY</a:t>
            </a:r>
            <a:endParaRPr sz="1550" dirty="0">
              <a:latin typeface="Times New Roman"/>
              <a:ea typeface="Times New Roman"/>
              <a:cs typeface="Times New Roman"/>
              <a:sym typeface="Times New Roman"/>
            </a:endParaRPr>
          </a:p>
          <a:p>
            <a:pPr marL="33655" lvl="0" indent="0" algn="l" rtl="0">
              <a:lnSpc>
                <a:spcPct val="100000"/>
              </a:lnSpc>
              <a:spcBef>
                <a:spcPts val="930"/>
              </a:spcBef>
              <a:spcAft>
                <a:spcPts val="0"/>
              </a:spcAft>
              <a:buNone/>
            </a:pPr>
            <a:r>
              <a:rPr lang="en-US" sz="1550" dirty="0" err="1">
                <a:latin typeface="Times New Roman"/>
                <a:ea typeface="Times New Roman"/>
                <a:cs typeface="Times New Roman"/>
                <a:sym typeface="Times New Roman"/>
              </a:rPr>
              <a:t>Dr.P.AMUDHA</a:t>
            </a:r>
            <a:endParaRPr sz="1550" dirty="0">
              <a:latin typeface="Times New Roman"/>
              <a:ea typeface="Times New Roman"/>
              <a:cs typeface="Times New Roman"/>
              <a:sym typeface="Times New Roman"/>
            </a:endParaRPr>
          </a:p>
          <a:p>
            <a:pPr marL="33655" lvl="0" indent="0" algn="l" rtl="0">
              <a:lnSpc>
                <a:spcPct val="100000"/>
              </a:lnSpc>
              <a:spcBef>
                <a:spcPts val="1235"/>
              </a:spcBef>
              <a:spcAft>
                <a:spcPts val="0"/>
              </a:spcAft>
              <a:buNone/>
            </a:pPr>
            <a:r>
              <a:rPr lang="en-US" sz="1550" dirty="0">
                <a:latin typeface="Times New Roman"/>
                <a:ea typeface="Times New Roman"/>
                <a:cs typeface="Times New Roman"/>
                <a:sym typeface="Times New Roman"/>
              </a:rPr>
              <a:t>Professor, CSE</a:t>
            </a:r>
            <a:endParaRPr sz="1550" dirty="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50"/>
        <p:cNvGrpSpPr/>
        <p:nvPr/>
      </p:nvGrpSpPr>
      <p:grpSpPr>
        <a:xfrm>
          <a:off x="0" y="0"/>
          <a:ext cx="0" cy="0"/>
          <a:chOff x="0" y="0"/>
          <a:chExt cx="0" cy="0"/>
        </a:xfrm>
      </p:grpSpPr>
      <p:sp>
        <p:nvSpPr>
          <p:cNvPr id="51" name="Google Shape;51;p2"/>
          <p:cNvSpPr txBox="1">
            <a:spLocks noGrp="1"/>
          </p:cNvSpPr>
          <p:nvPr>
            <p:ph type="title"/>
          </p:nvPr>
        </p:nvSpPr>
        <p:spPr>
          <a:xfrm>
            <a:off x="4670450" y="321697"/>
            <a:ext cx="3532275" cy="69532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4400" dirty="0"/>
              <a:t>OVERVIEW</a:t>
            </a:r>
            <a:endParaRPr sz="4400" dirty="0"/>
          </a:p>
        </p:txBody>
      </p:sp>
      <p:sp>
        <p:nvSpPr>
          <p:cNvPr id="52" name="Google Shape;52;p2"/>
          <p:cNvSpPr txBox="1"/>
          <p:nvPr/>
        </p:nvSpPr>
        <p:spPr>
          <a:xfrm>
            <a:off x="1278127" y="1515566"/>
            <a:ext cx="4234180" cy="4673074"/>
          </a:xfrm>
          <a:prstGeom prst="rect">
            <a:avLst/>
          </a:prstGeom>
          <a:noFill/>
          <a:ln>
            <a:noFill/>
          </a:ln>
        </p:spPr>
        <p:txBody>
          <a:bodyPr spcFirstLastPara="1" wrap="square" lIns="0" tIns="12700" rIns="0" bIns="0" anchor="t" anchorCtr="0">
            <a:spAutoFit/>
          </a:bodyPr>
          <a:lstStyle/>
          <a:p>
            <a:pPr marL="191135" lvl="0" indent="-178435" algn="l" rtl="0">
              <a:lnSpc>
                <a:spcPct val="100000"/>
              </a:lnSpc>
              <a:spcBef>
                <a:spcPts val="0"/>
              </a:spcBef>
              <a:spcAft>
                <a:spcPts val="0"/>
              </a:spcAft>
              <a:buSzPts val="2400"/>
              <a:buFont typeface="Arial"/>
              <a:buChar char="•"/>
            </a:pPr>
            <a:r>
              <a:rPr lang="en-US" sz="2400" dirty="0">
                <a:latin typeface="Times New Roman"/>
                <a:ea typeface="Times New Roman"/>
                <a:cs typeface="Times New Roman"/>
                <a:sym typeface="Times New Roman"/>
              </a:rPr>
              <a:t>Literature survey</a:t>
            </a:r>
            <a:endParaRPr sz="2400" dirty="0">
              <a:latin typeface="Times New Roman"/>
              <a:ea typeface="Times New Roman"/>
              <a:cs typeface="Times New Roman"/>
              <a:sym typeface="Times New Roman"/>
            </a:endParaRPr>
          </a:p>
          <a:p>
            <a:pPr marL="191135" lvl="0" indent="-178435" algn="l" rtl="0">
              <a:lnSpc>
                <a:spcPct val="100000"/>
              </a:lnSpc>
              <a:spcBef>
                <a:spcPts val="1900"/>
              </a:spcBef>
              <a:spcAft>
                <a:spcPts val="0"/>
              </a:spcAft>
              <a:buSzPts val="2400"/>
              <a:buFont typeface="Arial"/>
              <a:buChar char="•"/>
            </a:pPr>
            <a:r>
              <a:rPr lang="en-US" sz="2400" dirty="0">
                <a:latin typeface="Times New Roman"/>
                <a:ea typeface="Times New Roman"/>
                <a:cs typeface="Times New Roman"/>
                <a:sym typeface="Times New Roman"/>
              </a:rPr>
              <a:t>Problem statement</a:t>
            </a:r>
            <a:endParaRPr sz="2400" dirty="0">
              <a:latin typeface="Times New Roman"/>
              <a:ea typeface="Times New Roman"/>
              <a:cs typeface="Times New Roman"/>
              <a:sym typeface="Times New Roman"/>
            </a:endParaRPr>
          </a:p>
          <a:p>
            <a:pPr marL="191135" lvl="0" indent="-178435" algn="l" rtl="0">
              <a:lnSpc>
                <a:spcPct val="100000"/>
              </a:lnSpc>
              <a:spcBef>
                <a:spcPts val="1900"/>
              </a:spcBef>
              <a:spcAft>
                <a:spcPts val="0"/>
              </a:spcAft>
              <a:buSzPts val="2400"/>
              <a:buFont typeface="Arial"/>
              <a:buChar char="•"/>
            </a:pPr>
            <a:r>
              <a:rPr lang="en-US" sz="2400" dirty="0">
                <a:latin typeface="Times New Roman"/>
                <a:ea typeface="Times New Roman"/>
                <a:cs typeface="Times New Roman"/>
                <a:sym typeface="Times New Roman"/>
              </a:rPr>
              <a:t>Objective</a:t>
            </a:r>
            <a:endParaRPr sz="2400" dirty="0">
              <a:latin typeface="Times New Roman"/>
              <a:ea typeface="Times New Roman"/>
              <a:cs typeface="Times New Roman"/>
              <a:sym typeface="Times New Roman"/>
            </a:endParaRPr>
          </a:p>
          <a:p>
            <a:pPr marL="191135" lvl="0" indent="-178435" algn="l" rtl="0">
              <a:lnSpc>
                <a:spcPct val="100000"/>
              </a:lnSpc>
              <a:spcBef>
                <a:spcPts val="1895"/>
              </a:spcBef>
              <a:spcAft>
                <a:spcPts val="0"/>
              </a:spcAft>
              <a:buSzPts val="2400"/>
              <a:buFont typeface="Arial"/>
              <a:buChar char="•"/>
            </a:pPr>
            <a:r>
              <a:rPr lang="en-US" sz="2400" dirty="0">
                <a:latin typeface="Times New Roman"/>
                <a:ea typeface="Times New Roman"/>
                <a:cs typeface="Times New Roman"/>
                <a:sym typeface="Times New Roman"/>
              </a:rPr>
              <a:t>Introduction</a:t>
            </a:r>
            <a:endParaRPr sz="2400" dirty="0">
              <a:latin typeface="Times New Roman"/>
              <a:ea typeface="Times New Roman"/>
              <a:cs typeface="Times New Roman"/>
              <a:sym typeface="Times New Roman"/>
            </a:endParaRPr>
          </a:p>
          <a:p>
            <a:pPr marL="191135" lvl="0" indent="-178435" algn="l" rtl="0">
              <a:lnSpc>
                <a:spcPct val="100000"/>
              </a:lnSpc>
              <a:spcBef>
                <a:spcPts val="1900"/>
              </a:spcBef>
              <a:spcAft>
                <a:spcPts val="0"/>
              </a:spcAft>
              <a:buSzPts val="2400"/>
              <a:buFont typeface="Arial"/>
              <a:buChar char="•"/>
            </a:pPr>
            <a:r>
              <a:rPr lang="en-US" sz="2400" dirty="0">
                <a:latin typeface="Times New Roman"/>
                <a:ea typeface="Times New Roman"/>
                <a:cs typeface="Times New Roman"/>
                <a:sym typeface="Times New Roman"/>
              </a:rPr>
              <a:t>Proposed system</a:t>
            </a:r>
            <a:endParaRPr sz="2400" dirty="0">
              <a:latin typeface="Times New Roman"/>
              <a:ea typeface="Times New Roman"/>
              <a:cs typeface="Times New Roman"/>
              <a:sym typeface="Times New Roman"/>
            </a:endParaRPr>
          </a:p>
          <a:p>
            <a:pPr marL="191135" lvl="0" indent="-178435" algn="l" rtl="0">
              <a:lnSpc>
                <a:spcPct val="100000"/>
              </a:lnSpc>
              <a:spcBef>
                <a:spcPts val="1900"/>
              </a:spcBef>
              <a:spcAft>
                <a:spcPts val="0"/>
              </a:spcAft>
              <a:buSzPts val="2400"/>
              <a:buFont typeface="Arial"/>
              <a:buChar char="•"/>
            </a:pPr>
            <a:r>
              <a:rPr lang="en-US" sz="2400" dirty="0">
                <a:latin typeface="Times New Roman"/>
                <a:ea typeface="Times New Roman"/>
                <a:cs typeface="Times New Roman"/>
                <a:sym typeface="Times New Roman"/>
              </a:rPr>
              <a:t>Technical specifications</a:t>
            </a:r>
            <a:endParaRPr sz="2400" dirty="0">
              <a:latin typeface="Times New Roman"/>
              <a:ea typeface="Times New Roman"/>
              <a:cs typeface="Times New Roman"/>
              <a:sym typeface="Times New Roman"/>
            </a:endParaRPr>
          </a:p>
          <a:p>
            <a:pPr marL="191135" lvl="0" indent="-178435" algn="l" rtl="0">
              <a:lnSpc>
                <a:spcPct val="100000"/>
              </a:lnSpc>
              <a:spcBef>
                <a:spcPts val="1920"/>
              </a:spcBef>
              <a:spcAft>
                <a:spcPts val="0"/>
              </a:spcAft>
              <a:buSzPts val="2400"/>
              <a:buFont typeface="Arial"/>
              <a:buChar char="•"/>
            </a:pPr>
            <a:r>
              <a:rPr lang="en-US" sz="2400" dirty="0">
                <a:latin typeface="Times New Roman"/>
                <a:ea typeface="Times New Roman"/>
                <a:cs typeface="Times New Roman"/>
                <a:sym typeface="Times New Roman"/>
              </a:rPr>
              <a:t>Methodology</a:t>
            </a:r>
            <a:endParaRPr sz="2400" dirty="0">
              <a:latin typeface="Times New Roman"/>
              <a:ea typeface="Times New Roman"/>
              <a:cs typeface="Times New Roman"/>
              <a:sym typeface="Times New Roman"/>
            </a:endParaRPr>
          </a:p>
          <a:p>
            <a:pPr marL="191135" lvl="0" indent="-178435" algn="l" rtl="0">
              <a:lnSpc>
                <a:spcPct val="100000"/>
              </a:lnSpc>
              <a:spcBef>
                <a:spcPts val="1900"/>
              </a:spcBef>
              <a:spcAft>
                <a:spcPts val="0"/>
              </a:spcAft>
              <a:buSzPts val="2400"/>
              <a:buFont typeface="Arial"/>
              <a:buChar char="•"/>
            </a:pPr>
            <a:r>
              <a:rPr lang="en-US" sz="2400" dirty="0">
                <a:latin typeface="Times New Roman"/>
                <a:ea typeface="Times New Roman"/>
                <a:cs typeface="Times New Roman"/>
                <a:sym typeface="Times New Roman"/>
              </a:rPr>
              <a:t>Conclusion</a:t>
            </a:r>
            <a:endParaRPr sz="2400" dirty="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56"/>
        <p:cNvGrpSpPr/>
        <p:nvPr/>
      </p:nvGrpSpPr>
      <p:grpSpPr>
        <a:xfrm>
          <a:off x="0" y="0"/>
          <a:ext cx="0" cy="0"/>
          <a:chOff x="0" y="0"/>
          <a:chExt cx="0" cy="0"/>
        </a:xfrm>
      </p:grpSpPr>
      <p:sp>
        <p:nvSpPr>
          <p:cNvPr id="57" name="Google Shape;57;p3"/>
          <p:cNvSpPr txBox="1">
            <a:spLocks noGrp="1"/>
          </p:cNvSpPr>
          <p:nvPr>
            <p:ph type="title"/>
          </p:nvPr>
        </p:nvSpPr>
        <p:spPr>
          <a:xfrm>
            <a:off x="2806343" y="322313"/>
            <a:ext cx="6726798" cy="69532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4400" dirty="0"/>
              <a:t>LITERATURE SURVEY</a:t>
            </a:r>
            <a:endParaRPr sz="4400" dirty="0"/>
          </a:p>
        </p:txBody>
      </p:sp>
      <p:graphicFrame>
        <p:nvGraphicFramePr>
          <p:cNvPr id="58" name="Google Shape;58;p3"/>
          <p:cNvGraphicFramePr/>
          <p:nvPr>
            <p:extLst>
              <p:ext uri="{D42A27DB-BD31-4B8C-83A1-F6EECF244321}">
                <p14:modId xmlns:p14="http://schemas.microsoft.com/office/powerpoint/2010/main" val="2509314619"/>
              </p:ext>
            </p:extLst>
          </p:nvPr>
        </p:nvGraphicFramePr>
        <p:xfrm>
          <a:off x="403123" y="1386348"/>
          <a:ext cx="11533238" cy="4801676"/>
        </p:xfrm>
        <a:graphic>
          <a:graphicData uri="http://schemas.openxmlformats.org/drawingml/2006/table">
            <a:tbl>
              <a:tblPr firstRow="1" bandRow="1">
                <a:noFill/>
                <a:tableStyleId>{36339A65-334F-4BDC-BE0B-82BCC501CBD1}</a:tableStyleId>
              </a:tblPr>
              <a:tblGrid>
                <a:gridCol w="475173">
                  <a:extLst>
                    <a:ext uri="{9D8B030D-6E8A-4147-A177-3AD203B41FA5}">
                      <a16:colId xmlns:a16="http://schemas.microsoft.com/office/drawing/2014/main" val="20000"/>
                    </a:ext>
                  </a:extLst>
                </a:gridCol>
                <a:gridCol w="2857962">
                  <a:extLst>
                    <a:ext uri="{9D8B030D-6E8A-4147-A177-3AD203B41FA5}">
                      <a16:colId xmlns:a16="http://schemas.microsoft.com/office/drawing/2014/main" val="20001"/>
                    </a:ext>
                  </a:extLst>
                </a:gridCol>
                <a:gridCol w="2045110">
                  <a:extLst>
                    <a:ext uri="{9D8B030D-6E8A-4147-A177-3AD203B41FA5}">
                      <a16:colId xmlns:a16="http://schemas.microsoft.com/office/drawing/2014/main" val="20002"/>
                    </a:ext>
                  </a:extLst>
                </a:gridCol>
                <a:gridCol w="3932903">
                  <a:extLst>
                    <a:ext uri="{9D8B030D-6E8A-4147-A177-3AD203B41FA5}">
                      <a16:colId xmlns:a16="http://schemas.microsoft.com/office/drawing/2014/main" val="20003"/>
                    </a:ext>
                  </a:extLst>
                </a:gridCol>
                <a:gridCol w="2222090">
                  <a:extLst>
                    <a:ext uri="{9D8B030D-6E8A-4147-A177-3AD203B41FA5}">
                      <a16:colId xmlns:a16="http://schemas.microsoft.com/office/drawing/2014/main" val="20004"/>
                    </a:ext>
                  </a:extLst>
                </a:gridCol>
              </a:tblGrid>
              <a:tr h="635880">
                <a:tc>
                  <a:txBody>
                    <a:bodyPr/>
                    <a:lstStyle/>
                    <a:p>
                      <a:pPr marL="31750" marR="0" lvl="0" indent="0" algn="ctr" rtl="0">
                        <a:lnSpc>
                          <a:spcPct val="100000"/>
                        </a:lnSpc>
                        <a:spcBef>
                          <a:spcPts val="0"/>
                        </a:spcBef>
                        <a:spcAft>
                          <a:spcPts val="0"/>
                        </a:spcAft>
                        <a:buNone/>
                      </a:pPr>
                      <a:r>
                        <a:rPr lang="en-US" sz="1850" u="none" strike="noStrike" cap="none" dirty="0">
                          <a:latin typeface="Times New Roman"/>
                          <a:ea typeface="Times New Roman"/>
                          <a:cs typeface="Times New Roman"/>
                          <a:sym typeface="Times New Roman"/>
                        </a:rPr>
                        <a:t>S.no</a:t>
                      </a:r>
                      <a:endParaRPr sz="1850" u="none" strike="noStrike" cap="none" dirty="0">
                        <a:latin typeface="Times New Roman"/>
                        <a:ea typeface="Times New Roman"/>
                        <a:cs typeface="Times New Roman"/>
                        <a:sym typeface="Times New Roman"/>
                      </a:endParaRPr>
                    </a:p>
                  </a:txBody>
                  <a:tcPr marL="0" marR="0" marT="1238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0165" marR="0" lvl="0" indent="0" algn="ctr" rtl="0">
                        <a:lnSpc>
                          <a:spcPct val="100000"/>
                        </a:lnSpc>
                        <a:spcBef>
                          <a:spcPts val="0"/>
                        </a:spcBef>
                        <a:spcAft>
                          <a:spcPts val="0"/>
                        </a:spcAft>
                        <a:buNone/>
                      </a:pPr>
                      <a:r>
                        <a:rPr lang="en-US" sz="1850" u="none" strike="noStrike" cap="none" dirty="0">
                          <a:latin typeface="Times New Roman"/>
                          <a:ea typeface="Times New Roman"/>
                          <a:cs typeface="Times New Roman"/>
                          <a:sym typeface="Times New Roman"/>
                        </a:rPr>
                        <a:t>Title</a:t>
                      </a:r>
                      <a:endParaRPr sz="1850" u="none" strike="noStrike" cap="none" dirty="0">
                        <a:latin typeface="Times New Roman"/>
                        <a:ea typeface="Times New Roman"/>
                        <a:cs typeface="Times New Roman"/>
                        <a:sym typeface="Times New Roman"/>
                      </a:endParaRPr>
                    </a:p>
                  </a:txBody>
                  <a:tcPr marL="0" marR="0" marT="1238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0010" marR="0" lvl="0" indent="0" algn="ctr" rtl="0">
                        <a:lnSpc>
                          <a:spcPct val="108864"/>
                        </a:lnSpc>
                        <a:spcBef>
                          <a:spcPts val="0"/>
                        </a:spcBef>
                        <a:spcAft>
                          <a:spcPts val="0"/>
                        </a:spcAft>
                        <a:buNone/>
                      </a:pPr>
                      <a:r>
                        <a:rPr lang="en-US" sz="1850" u="none" strike="noStrike" cap="none" dirty="0">
                          <a:latin typeface="Times New Roman"/>
                          <a:ea typeface="Times New Roman"/>
                          <a:cs typeface="Times New Roman"/>
                          <a:sym typeface="Times New Roman"/>
                        </a:rPr>
                        <a:t>Author(s) &amp;</a:t>
                      </a:r>
                      <a:endParaRPr sz="1850" u="none" strike="noStrike" cap="none" dirty="0">
                        <a:latin typeface="Times New Roman"/>
                        <a:ea typeface="Times New Roman"/>
                        <a:cs typeface="Times New Roman"/>
                        <a:sym typeface="Times New Roman"/>
                      </a:endParaRPr>
                    </a:p>
                    <a:p>
                      <a:pPr marL="80010" marR="0" lvl="0" indent="0" algn="ctr" rtl="0">
                        <a:lnSpc>
                          <a:spcPct val="100000"/>
                        </a:lnSpc>
                        <a:spcBef>
                          <a:spcPts val="105"/>
                        </a:spcBef>
                        <a:spcAft>
                          <a:spcPts val="0"/>
                        </a:spcAft>
                        <a:buNone/>
                      </a:pPr>
                      <a:r>
                        <a:rPr lang="en-US" sz="1850" u="none" strike="noStrike" cap="none" dirty="0">
                          <a:latin typeface="Times New Roman"/>
                          <a:ea typeface="Times New Roman"/>
                          <a:cs typeface="Times New Roman"/>
                          <a:sym typeface="Times New Roman"/>
                        </a:rPr>
                        <a:t>Year</a:t>
                      </a:r>
                      <a:endParaRPr sz="1850" u="none" strike="noStrike" cap="none" dirty="0">
                        <a:latin typeface="Times New Roman"/>
                        <a:ea typeface="Times New Roman"/>
                        <a:cs typeface="Times New Roman"/>
                        <a:sym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56845" marR="0" lvl="0" indent="0" algn="ctr" rtl="0">
                        <a:lnSpc>
                          <a:spcPct val="100000"/>
                        </a:lnSpc>
                        <a:spcBef>
                          <a:spcPts val="0"/>
                        </a:spcBef>
                        <a:spcAft>
                          <a:spcPts val="0"/>
                        </a:spcAft>
                        <a:buNone/>
                      </a:pPr>
                      <a:r>
                        <a:rPr lang="en-US" sz="1850" u="none" strike="noStrike" cap="none" dirty="0">
                          <a:latin typeface="Times New Roman"/>
                          <a:ea typeface="Times New Roman"/>
                          <a:cs typeface="Times New Roman"/>
                          <a:sym typeface="Times New Roman"/>
                        </a:rPr>
                        <a:t>Methodology</a:t>
                      </a:r>
                      <a:endParaRPr sz="1850" u="none" strike="noStrike" cap="none" dirty="0">
                        <a:latin typeface="Times New Roman"/>
                        <a:ea typeface="Times New Roman"/>
                        <a:cs typeface="Times New Roman"/>
                        <a:sym typeface="Times New Roman"/>
                      </a:endParaRPr>
                    </a:p>
                  </a:txBody>
                  <a:tcPr marL="0" marR="0" marT="1238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64769" marR="0" lvl="0" indent="0" algn="ctr" rtl="0">
                        <a:lnSpc>
                          <a:spcPct val="100000"/>
                        </a:lnSpc>
                        <a:spcBef>
                          <a:spcPts val="0"/>
                        </a:spcBef>
                        <a:spcAft>
                          <a:spcPts val="0"/>
                        </a:spcAft>
                        <a:buNone/>
                      </a:pPr>
                      <a:r>
                        <a:rPr lang="en-US" sz="1850" u="none" strike="noStrike" cap="none" dirty="0">
                          <a:latin typeface="Times New Roman"/>
                          <a:ea typeface="Times New Roman"/>
                          <a:cs typeface="Times New Roman"/>
                          <a:sym typeface="Times New Roman"/>
                        </a:rPr>
                        <a:t>Remarks</a:t>
                      </a:r>
                      <a:endParaRPr sz="1850" u="none" strike="noStrike" cap="none" dirty="0">
                        <a:latin typeface="Times New Roman"/>
                        <a:ea typeface="Times New Roman"/>
                        <a:cs typeface="Times New Roman"/>
                        <a:sym typeface="Times New Roman"/>
                      </a:endParaRPr>
                    </a:p>
                  </a:txBody>
                  <a:tcPr marL="0" marR="0" marT="1238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436483">
                <a:tc>
                  <a:txBody>
                    <a:bodyPr/>
                    <a:lstStyle/>
                    <a:p>
                      <a:pPr marL="0" marR="0" lvl="0" indent="0" algn="l" rtl="0">
                        <a:lnSpc>
                          <a:spcPct val="100000"/>
                        </a:lnSpc>
                        <a:spcBef>
                          <a:spcPts val="0"/>
                        </a:spcBef>
                        <a:spcAft>
                          <a:spcPts val="0"/>
                        </a:spcAft>
                        <a:buNone/>
                      </a:pPr>
                      <a:endParaRPr sz="1850" u="none" strike="noStrike" cap="none" dirty="0">
                        <a:latin typeface="Times New Roman"/>
                        <a:ea typeface="Times New Roman"/>
                        <a:cs typeface="Times New Roman"/>
                        <a:sym typeface="Times New Roman"/>
                      </a:endParaRPr>
                    </a:p>
                    <a:p>
                      <a:pPr marL="31750" marR="0" lvl="0" indent="0" algn="l" rtl="0">
                        <a:lnSpc>
                          <a:spcPct val="100000"/>
                        </a:lnSpc>
                        <a:spcBef>
                          <a:spcPts val="0"/>
                        </a:spcBef>
                        <a:spcAft>
                          <a:spcPts val="0"/>
                        </a:spcAft>
                        <a:buNone/>
                      </a:pPr>
                      <a:r>
                        <a:rPr lang="en-US" sz="1850" u="none" strike="noStrike" cap="none" dirty="0">
                          <a:latin typeface="Times New Roman"/>
                          <a:ea typeface="Times New Roman"/>
                          <a:cs typeface="Times New Roman"/>
                          <a:sym typeface="Times New Roman"/>
                        </a:rPr>
                        <a:t>1.</a:t>
                      </a:r>
                      <a:endParaRPr sz="1850" u="none" strike="noStrike" cap="none" dirty="0">
                        <a:latin typeface="Times New Roman"/>
                        <a:ea typeface="Times New Roman"/>
                        <a:cs typeface="Times New Roman"/>
                        <a:sym typeface="Times New Roman"/>
                      </a:endParaRPr>
                    </a:p>
                  </a:txBody>
                  <a:tcPr marL="0" marR="0" marT="2514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None/>
                      </a:pPr>
                      <a:endParaRPr sz="1850" u="none" strike="noStrike" cap="none" dirty="0">
                        <a:latin typeface="Times New Roman"/>
                        <a:ea typeface="Times New Roman"/>
                        <a:cs typeface="Times New Roman"/>
                        <a:sym typeface="Times New Roman"/>
                      </a:endParaRPr>
                    </a:p>
                    <a:p>
                      <a:pPr marL="182880" marR="0" lvl="0" indent="0" algn="l" rtl="0">
                        <a:lnSpc>
                          <a:spcPct val="100000"/>
                        </a:lnSpc>
                        <a:spcBef>
                          <a:spcPts val="0"/>
                        </a:spcBef>
                        <a:spcAft>
                          <a:spcPts val="0"/>
                        </a:spcAft>
                        <a:buNone/>
                      </a:pPr>
                      <a:r>
                        <a:rPr lang="en-US" sz="1850" u="none" strike="noStrike" cap="none" dirty="0">
                          <a:latin typeface="Times New Roman"/>
                          <a:ea typeface="Times New Roman"/>
                          <a:cs typeface="Times New Roman"/>
                          <a:sym typeface="Times New Roman"/>
                        </a:rPr>
                        <a:t>Missing Person Detection</a:t>
                      </a:r>
                      <a:endParaRPr sz="1850" u="none" strike="noStrike" cap="none" dirty="0">
                        <a:latin typeface="Times New Roman"/>
                        <a:ea typeface="Times New Roman"/>
                        <a:cs typeface="Times New Roman"/>
                        <a:sym typeface="Times New Roman"/>
                      </a:endParaRPr>
                    </a:p>
                    <a:p>
                      <a:pPr marL="182880" marR="0" lvl="0" indent="0" algn="l" rtl="0">
                        <a:lnSpc>
                          <a:spcPct val="100000"/>
                        </a:lnSpc>
                        <a:spcBef>
                          <a:spcPts val="110"/>
                        </a:spcBef>
                        <a:spcAft>
                          <a:spcPts val="0"/>
                        </a:spcAft>
                        <a:buNone/>
                      </a:pPr>
                      <a:r>
                        <a:rPr lang="en-US" sz="1850" u="none" strike="noStrike" cap="none" dirty="0">
                          <a:latin typeface="Times New Roman"/>
                          <a:ea typeface="Times New Roman"/>
                          <a:cs typeface="Times New Roman"/>
                          <a:sym typeface="Times New Roman"/>
                        </a:rPr>
                        <a:t>System in IoT</a:t>
                      </a:r>
                      <a:endParaRPr sz="1850" u="none" strike="noStrike" cap="none" dirty="0">
                        <a:latin typeface="Times New Roman"/>
                        <a:ea typeface="Times New Roman"/>
                        <a:cs typeface="Times New Roman"/>
                        <a:sym typeface="Times New Roman"/>
                      </a:endParaRPr>
                    </a:p>
                  </a:txBody>
                  <a:tcPr marL="0" marR="0" marT="1822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None/>
                      </a:pPr>
                      <a:endParaRPr sz="1850" u="none" strike="noStrike" cap="none" dirty="0">
                        <a:latin typeface="Times New Roman"/>
                        <a:ea typeface="Times New Roman"/>
                        <a:cs typeface="Times New Roman"/>
                        <a:sym typeface="Times New Roman"/>
                      </a:endParaRPr>
                    </a:p>
                    <a:p>
                      <a:pPr marL="104775" marR="0" lvl="0" indent="0" algn="l" rtl="0">
                        <a:lnSpc>
                          <a:spcPct val="100000"/>
                        </a:lnSpc>
                        <a:spcBef>
                          <a:spcPts val="0"/>
                        </a:spcBef>
                        <a:spcAft>
                          <a:spcPts val="0"/>
                        </a:spcAft>
                        <a:buNone/>
                      </a:pPr>
                      <a:r>
                        <a:rPr lang="en-US" sz="1850" u="none" strike="noStrike" cap="none" dirty="0">
                          <a:latin typeface="Times New Roman"/>
                          <a:ea typeface="Times New Roman"/>
                          <a:cs typeface="Times New Roman"/>
                          <a:sym typeface="Times New Roman"/>
                        </a:rPr>
                        <a:t>Digambar Jadhav et  al.</a:t>
                      </a:r>
                      <a:endParaRPr sz="1850" u="none" strike="noStrike" cap="none" dirty="0">
                        <a:latin typeface="Times New Roman"/>
                        <a:ea typeface="Times New Roman"/>
                        <a:cs typeface="Times New Roman"/>
                        <a:sym typeface="Times New Roman"/>
                      </a:endParaRPr>
                    </a:p>
                    <a:p>
                      <a:pPr marL="104775" marR="0" lvl="0" indent="0" algn="l" rtl="0">
                        <a:lnSpc>
                          <a:spcPct val="100000"/>
                        </a:lnSpc>
                        <a:spcBef>
                          <a:spcPts val="155"/>
                        </a:spcBef>
                        <a:spcAft>
                          <a:spcPts val="0"/>
                        </a:spcAft>
                        <a:buNone/>
                      </a:pPr>
                      <a:r>
                        <a:rPr lang="en-US" sz="1850" u="none" strike="noStrike" cap="none" dirty="0">
                          <a:latin typeface="Times New Roman"/>
                          <a:ea typeface="Times New Roman"/>
                          <a:cs typeface="Times New Roman"/>
                          <a:sym typeface="Times New Roman"/>
                        </a:rPr>
                        <a:t>2017</a:t>
                      </a:r>
                      <a:endParaRPr sz="1850" u="none" strike="noStrike" cap="none" dirty="0">
                        <a:latin typeface="Times New Roman"/>
                        <a:ea typeface="Times New Roman"/>
                        <a:cs typeface="Times New Roman"/>
                        <a:sym typeface="Times New Roman"/>
                      </a:endParaRPr>
                    </a:p>
                  </a:txBody>
                  <a:tcPr marL="0" marR="0" marT="304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None/>
                      </a:pPr>
                      <a:endParaRPr sz="1850" u="none" strike="noStrike" cap="none" dirty="0">
                        <a:latin typeface="Times New Roman"/>
                        <a:ea typeface="Times New Roman"/>
                        <a:cs typeface="Times New Roman"/>
                        <a:sym typeface="Times New Roman"/>
                      </a:endParaRPr>
                    </a:p>
                    <a:p>
                      <a:pPr marL="74930" marR="126364" lvl="0" indent="0" algn="l" rtl="0">
                        <a:lnSpc>
                          <a:spcPct val="103299"/>
                        </a:lnSpc>
                        <a:spcBef>
                          <a:spcPts val="0"/>
                        </a:spcBef>
                        <a:spcAft>
                          <a:spcPts val="0"/>
                        </a:spcAft>
                        <a:buNone/>
                      </a:pPr>
                      <a:r>
                        <a:rPr lang="en-US" sz="1850" u="none" strike="noStrike" cap="none" dirty="0">
                          <a:latin typeface="Times New Roman"/>
                          <a:ea typeface="Times New Roman"/>
                          <a:cs typeface="Times New Roman"/>
                          <a:sym typeface="Times New Roman"/>
                        </a:rPr>
                        <a:t>Uses IoT sensors for real-time location tracking and image capture; integrates with local police.</a:t>
                      </a:r>
                      <a:endParaRPr sz="1850" u="none" strike="noStrike" cap="none" dirty="0">
                        <a:latin typeface="Times New Roman"/>
                        <a:ea typeface="Times New Roman"/>
                        <a:cs typeface="Times New Roman"/>
                        <a:sym typeface="Times New Roman"/>
                      </a:endParaRPr>
                    </a:p>
                  </a:txBody>
                  <a:tcPr marL="0" marR="0" marT="216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64769" marR="24130" lvl="0" indent="0" algn="l" rtl="0">
                        <a:lnSpc>
                          <a:spcPct val="103099"/>
                        </a:lnSpc>
                        <a:spcBef>
                          <a:spcPts val="0"/>
                        </a:spcBef>
                        <a:spcAft>
                          <a:spcPts val="0"/>
                        </a:spcAft>
                        <a:buClr>
                          <a:srgbClr val="000000"/>
                        </a:buClr>
                        <a:buFont typeface="Arial"/>
                        <a:buNone/>
                      </a:pPr>
                      <a:endParaRPr lang="en-US" sz="1850" b="0" i="0" u="none" strike="noStrike" cap="none" dirty="0">
                        <a:solidFill>
                          <a:schemeClr val="dk1"/>
                        </a:solidFill>
                        <a:latin typeface="Times New Roman"/>
                        <a:ea typeface="Times New Roman"/>
                        <a:cs typeface="Times New Roman"/>
                        <a:sym typeface="Times New Roman"/>
                      </a:endParaRPr>
                    </a:p>
                    <a:p>
                      <a:pPr marL="64769" marR="24130" lvl="0" indent="0" algn="l" rtl="0">
                        <a:lnSpc>
                          <a:spcPct val="103099"/>
                        </a:lnSpc>
                        <a:spcBef>
                          <a:spcPts val="0"/>
                        </a:spcBef>
                        <a:spcAft>
                          <a:spcPts val="0"/>
                        </a:spcAft>
                        <a:buClr>
                          <a:srgbClr val="000000"/>
                        </a:buClr>
                        <a:buFont typeface="Arial"/>
                        <a:buNone/>
                      </a:pPr>
                      <a:r>
                        <a:rPr lang="en-US" sz="1850" b="0" i="0" u="none" strike="noStrike" cap="none" dirty="0">
                          <a:solidFill>
                            <a:schemeClr val="dk1"/>
                          </a:solidFill>
                          <a:latin typeface="Times New Roman"/>
                          <a:ea typeface="Times New Roman"/>
                          <a:cs typeface="Times New Roman"/>
                          <a:sym typeface="Times New Roman"/>
                        </a:rPr>
                        <a:t>IoT- based approach; </a:t>
                      </a:r>
                    </a:p>
                    <a:p>
                      <a:pPr marL="64769" marR="24130" lvl="0" indent="0" algn="l" rtl="0">
                        <a:lnSpc>
                          <a:spcPct val="103099"/>
                        </a:lnSpc>
                        <a:spcBef>
                          <a:spcPts val="0"/>
                        </a:spcBef>
                        <a:spcAft>
                          <a:spcPts val="0"/>
                        </a:spcAft>
                        <a:buClr>
                          <a:srgbClr val="000000"/>
                        </a:buClr>
                        <a:buFont typeface="Arial"/>
                        <a:buNone/>
                      </a:pPr>
                      <a:r>
                        <a:rPr lang="en-US" sz="1850" b="0" i="0" u="none" strike="noStrike" cap="none" dirty="0">
                          <a:solidFill>
                            <a:schemeClr val="dk1"/>
                          </a:solidFill>
                          <a:latin typeface="Times New Roman"/>
                          <a:ea typeface="Times New Roman"/>
                          <a:cs typeface="Times New Roman"/>
                          <a:sym typeface="Times New Roman"/>
                        </a:rPr>
                        <a:t>lacks direct video analysis capability.</a:t>
                      </a:r>
                      <a:endParaRPr sz="1850" b="0" i="0" u="none" strike="noStrike" cap="none" dirty="0">
                        <a:solidFill>
                          <a:schemeClr val="dk1"/>
                        </a:solidFill>
                        <a:latin typeface="Times New Roman"/>
                        <a:ea typeface="Times New Roman"/>
                        <a:cs typeface="Times New Roman"/>
                        <a:sym typeface="Times New Roman"/>
                      </a:endParaRPr>
                    </a:p>
                  </a:txBody>
                  <a:tcPr marL="0" marR="0" marT="19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488341">
                <a:tc>
                  <a:txBody>
                    <a:bodyPr/>
                    <a:lstStyle/>
                    <a:p>
                      <a:pPr marL="0" marR="0" lvl="0" indent="0" algn="l" rtl="0">
                        <a:lnSpc>
                          <a:spcPct val="100000"/>
                        </a:lnSpc>
                        <a:spcBef>
                          <a:spcPts val="0"/>
                        </a:spcBef>
                        <a:spcAft>
                          <a:spcPts val="0"/>
                        </a:spcAft>
                        <a:buNone/>
                      </a:pPr>
                      <a:endParaRPr sz="1850" u="none" strike="noStrike" cap="none" dirty="0">
                        <a:latin typeface="Times New Roman"/>
                        <a:ea typeface="Times New Roman"/>
                        <a:cs typeface="Times New Roman"/>
                        <a:sym typeface="Times New Roman"/>
                      </a:endParaRPr>
                    </a:p>
                    <a:p>
                      <a:pPr marL="31750" marR="0" lvl="0" indent="0" algn="l" rtl="0">
                        <a:lnSpc>
                          <a:spcPct val="100000"/>
                        </a:lnSpc>
                        <a:spcBef>
                          <a:spcPts val="0"/>
                        </a:spcBef>
                        <a:spcAft>
                          <a:spcPts val="0"/>
                        </a:spcAft>
                        <a:buNone/>
                      </a:pPr>
                      <a:r>
                        <a:rPr lang="en-US" sz="1850" u="none" strike="noStrike" cap="none" dirty="0">
                          <a:latin typeface="Times New Roman"/>
                          <a:ea typeface="Times New Roman"/>
                          <a:cs typeface="Times New Roman"/>
                          <a:sym typeface="Times New Roman"/>
                        </a:rPr>
                        <a:t>2.</a:t>
                      </a:r>
                      <a:endParaRPr sz="1850" u="none" strike="noStrike" cap="none" dirty="0">
                        <a:latin typeface="Times New Roman"/>
                        <a:ea typeface="Times New Roman"/>
                        <a:cs typeface="Times New Roman"/>
                        <a:sym typeface="Times New Roman"/>
                      </a:endParaRPr>
                    </a:p>
                  </a:txBody>
                  <a:tcPr marL="0" marR="0" marT="2679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None/>
                      </a:pPr>
                      <a:endParaRPr sz="1850" b="1" u="none" strike="noStrike" cap="none" dirty="0">
                        <a:latin typeface="Times New Roman"/>
                        <a:ea typeface="Times New Roman"/>
                        <a:cs typeface="Times New Roman"/>
                        <a:sym typeface="Times New Roman"/>
                      </a:endParaRPr>
                    </a:p>
                    <a:p>
                      <a:pPr marL="50165" marR="0" lvl="0" indent="0" algn="l" rtl="0">
                        <a:lnSpc>
                          <a:spcPct val="100000"/>
                        </a:lnSpc>
                        <a:spcBef>
                          <a:spcPts val="0"/>
                        </a:spcBef>
                        <a:spcAft>
                          <a:spcPts val="0"/>
                        </a:spcAft>
                        <a:buNone/>
                      </a:pPr>
                      <a:r>
                        <a:rPr lang="en-US" sz="1850" b="1" u="none" strike="noStrike" cap="none" dirty="0">
                          <a:latin typeface="Times New Roman"/>
                          <a:ea typeface="Times New Roman"/>
                          <a:cs typeface="Times New Roman"/>
                          <a:sym typeface="Times New Roman"/>
                        </a:rPr>
                        <a:t>Finding Missing Person</a:t>
                      </a:r>
                      <a:endParaRPr sz="1850" b="1" u="none" strike="noStrike" cap="none" dirty="0">
                        <a:latin typeface="Times New Roman"/>
                        <a:ea typeface="Times New Roman"/>
                        <a:cs typeface="Times New Roman"/>
                        <a:sym typeface="Times New Roman"/>
                      </a:endParaRPr>
                    </a:p>
                    <a:p>
                      <a:pPr marL="50165" marR="0" lvl="0" indent="0" algn="l" rtl="0">
                        <a:lnSpc>
                          <a:spcPct val="100000"/>
                        </a:lnSpc>
                        <a:spcBef>
                          <a:spcPts val="110"/>
                        </a:spcBef>
                        <a:spcAft>
                          <a:spcPts val="0"/>
                        </a:spcAft>
                        <a:buNone/>
                      </a:pPr>
                      <a:r>
                        <a:rPr lang="en-US" sz="1850" b="1" u="none" strike="noStrike" cap="none" dirty="0">
                          <a:latin typeface="Times New Roman"/>
                          <a:ea typeface="Times New Roman"/>
                          <a:cs typeface="Times New Roman"/>
                          <a:sym typeface="Times New Roman"/>
                        </a:rPr>
                        <a:t>Using Artificial Intelligence</a:t>
                      </a:r>
                      <a:endParaRPr sz="1850" b="1" u="none" strike="noStrike" cap="none" dirty="0">
                        <a:latin typeface="Times New Roman"/>
                        <a:ea typeface="Times New Roman"/>
                        <a:cs typeface="Times New Roman"/>
                        <a:sym typeface="Times New Roman"/>
                      </a:endParaRPr>
                    </a:p>
                  </a:txBody>
                  <a:tcPr marL="0" marR="0" marT="1009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None/>
                      </a:pPr>
                      <a:endParaRPr sz="1850" b="1" u="none" strike="noStrike" cap="none" dirty="0">
                        <a:latin typeface="Times New Roman"/>
                        <a:ea typeface="Times New Roman"/>
                        <a:cs typeface="Times New Roman"/>
                        <a:sym typeface="Times New Roman"/>
                      </a:endParaRPr>
                    </a:p>
                    <a:p>
                      <a:pPr marL="80010" marR="0" lvl="0" indent="0" algn="l" rtl="0">
                        <a:lnSpc>
                          <a:spcPct val="100000"/>
                        </a:lnSpc>
                        <a:spcBef>
                          <a:spcPts val="0"/>
                        </a:spcBef>
                        <a:spcAft>
                          <a:spcPts val="0"/>
                        </a:spcAft>
                        <a:buNone/>
                      </a:pPr>
                      <a:r>
                        <a:rPr lang="en-US" sz="1850" b="1" u="none" strike="noStrike" cap="none" dirty="0">
                          <a:latin typeface="Times New Roman"/>
                          <a:ea typeface="Times New Roman"/>
                          <a:cs typeface="Times New Roman"/>
                          <a:sym typeface="Times New Roman"/>
                        </a:rPr>
                        <a:t>A. Ponmalar et al.</a:t>
                      </a:r>
                      <a:endParaRPr sz="1850" b="1" u="none" strike="noStrike" cap="none" dirty="0">
                        <a:latin typeface="Times New Roman"/>
                        <a:ea typeface="Times New Roman"/>
                        <a:cs typeface="Times New Roman"/>
                        <a:sym typeface="Times New Roman"/>
                      </a:endParaRPr>
                    </a:p>
                    <a:p>
                      <a:pPr marL="80010" marR="0" lvl="0" indent="0" algn="l" rtl="0">
                        <a:lnSpc>
                          <a:spcPct val="100000"/>
                        </a:lnSpc>
                        <a:spcBef>
                          <a:spcPts val="110"/>
                        </a:spcBef>
                        <a:spcAft>
                          <a:spcPts val="0"/>
                        </a:spcAft>
                        <a:buNone/>
                      </a:pPr>
                      <a:r>
                        <a:rPr lang="en-US" sz="1850" b="1" u="none" strike="noStrike" cap="none" dirty="0">
                          <a:latin typeface="Times New Roman"/>
                          <a:ea typeface="Times New Roman"/>
                          <a:cs typeface="Times New Roman"/>
                          <a:sym typeface="Times New Roman"/>
                        </a:rPr>
                        <a:t>2022</a:t>
                      </a:r>
                      <a:endParaRPr sz="1850" b="1" u="none" strike="noStrike" cap="none" dirty="0">
                        <a:latin typeface="Times New Roman"/>
                        <a:ea typeface="Times New Roman"/>
                        <a:cs typeface="Times New Roman"/>
                        <a:sym typeface="Times New Roman"/>
                      </a:endParaRPr>
                    </a:p>
                  </a:txBody>
                  <a:tcPr marL="0" marR="0" marT="1009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56845" marR="57150" lvl="0" indent="0" algn="l" rtl="0">
                        <a:lnSpc>
                          <a:spcPct val="103099"/>
                        </a:lnSpc>
                        <a:spcBef>
                          <a:spcPts val="0"/>
                        </a:spcBef>
                        <a:spcAft>
                          <a:spcPts val="0"/>
                        </a:spcAft>
                        <a:buNone/>
                      </a:pPr>
                      <a:r>
                        <a:rPr lang="en-US" sz="1850" b="1" u="none" strike="noStrike" cap="none" dirty="0">
                          <a:latin typeface="Times New Roman"/>
                          <a:ea typeface="Times New Roman"/>
                          <a:cs typeface="Times New Roman"/>
                          <a:sym typeface="Times New Roman"/>
                        </a:rPr>
                        <a:t>Uses face recognition algorithms to match uploaded images with those in a database. Notifications are sent if a match is found.</a:t>
                      </a:r>
                      <a:endParaRPr sz="1850" b="1" u="none" strike="noStrike" cap="none" dirty="0">
                        <a:latin typeface="Times New Roman"/>
                        <a:ea typeface="Times New Roman"/>
                        <a:cs typeface="Times New Roman"/>
                        <a:sym typeface="Times New Roman"/>
                      </a:endParaRPr>
                    </a:p>
                  </a:txBody>
                  <a:tcPr marL="0" marR="0" marT="40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64769" marR="24130" lvl="0" indent="0" algn="l" rtl="0">
                        <a:lnSpc>
                          <a:spcPct val="103099"/>
                        </a:lnSpc>
                        <a:spcBef>
                          <a:spcPts val="0"/>
                        </a:spcBef>
                        <a:spcAft>
                          <a:spcPts val="0"/>
                        </a:spcAft>
                        <a:buNone/>
                      </a:pPr>
                      <a:r>
                        <a:rPr lang="en-US" sz="1850" b="1" u="none" strike="noStrike" cap="none" dirty="0">
                          <a:latin typeface="Times New Roman"/>
                          <a:ea typeface="Times New Roman"/>
                          <a:cs typeface="Times New Roman"/>
                          <a:sym typeface="Times New Roman"/>
                        </a:rPr>
                        <a:t>Limited to face recognition; requires extensive database.</a:t>
                      </a:r>
                      <a:endParaRPr sz="1850" b="1" u="none" strike="noStrike" cap="none" dirty="0">
                        <a:latin typeface="Times New Roman"/>
                        <a:ea typeface="Times New Roman"/>
                        <a:cs typeface="Times New Roman"/>
                        <a:sym typeface="Times New Roman"/>
                      </a:endParaRPr>
                    </a:p>
                  </a:txBody>
                  <a:tcPr marL="0" marR="0" marT="40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240972">
                <a:tc>
                  <a:txBody>
                    <a:bodyPr/>
                    <a:lstStyle/>
                    <a:p>
                      <a:pPr marL="0" marR="0" lvl="0" indent="0" algn="l" rtl="0">
                        <a:lnSpc>
                          <a:spcPct val="100000"/>
                        </a:lnSpc>
                        <a:spcBef>
                          <a:spcPts val="0"/>
                        </a:spcBef>
                        <a:spcAft>
                          <a:spcPts val="0"/>
                        </a:spcAft>
                        <a:buNone/>
                      </a:pPr>
                      <a:endParaRPr sz="1850" u="none" strike="noStrike" cap="none" dirty="0">
                        <a:latin typeface="Times New Roman"/>
                        <a:ea typeface="Times New Roman"/>
                        <a:cs typeface="Times New Roman"/>
                        <a:sym typeface="Times New Roman"/>
                      </a:endParaRPr>
                    </a:p>
                    <a:p>
                      <a:pPr marL="31750" marR="0" lvl="0" indent="0" algn="l" rtl="0">
                        <a:lnSpc>
                          <a:spcPct val="100000"/>
                        </a:lnSpc>
                        <a:spcBef>
                          <a:spcPts val="0"/>
                        </a:spcBef>
                        <a:spcAft>
                          <a:spcPts val="0"/>
                        </a:spcAft>
                        <a:buNone/>
                      </a:pPr>
                      <a:r>
                        <a:rPr lang="en-US" sz="1850" u="none" strike="noStrike" cap="none" dirty="0">
                          <a:latin typeface="Times New Roman"/>
                          <a:ea typeface="Times New Roman"/>
                          <a:cs typeface="Times New Roman"/>
                          <a:sym typeface="Times New Roman"/>
                        </a:rPr>
                        <a:t>3.</a:t>
                      </a:r>
                      <a:endParaRPr sz="1850" u="none" strike="noStrike" cap="none" dirty="0">
                        <a:latin typeface="Times New Roman"/>
                        <a:ea typeface="Times New Roman"/>
                        <a:cs typeface="Times New Roman"/>
                        <a:sym typeface="Times New Roman"/>
                      </a:endParaRPr>
                    </a:p>
                  </a:txBody>
                  <a:tcPr marL="0" marR="0" marT="2692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None/>
                      </a:pPr>
                      <a:endParaRPr sz="1850" u="none" strike="noStrike" cap="none" dirty="0">
                        <a:latin typeface="Times New Roman"/>
                        <a:ea typeface="Times New Roman"/>
                        <a:cs typeface="Times New Roman"/>
                        <a:sym typeface="Times New Roman"/>
                      </a:endParaRPr>
                    </a:p>
                    <a:p>
                      <a:pPr marL="50165" marR="0" lvl="0" indent="0" algn="l" rtl="0">
                        <a:lnSpc>
                          <a:spcPct val="100000"/>
                        </a:lnSpc>
                        <a:spcBef>
                          <a:spcPts val="0"/>
                        </a:spcBef>
                        <a:spcAft>
                          <a:spcPts val="0"/>
                        </a:spcAft>
                        <a:buNone/>
                      </a:pPr>
                      <a:r>
                        <a:rPr lang="en-US" sz="1850" u="none" strike="noStrike" cap="none" dirty="0">
                          <a:latin typeface="Times New Roman"/>
                          <a:ea typeface="Times New Roman"/>
                          <a:cs typeface="Times New Roman"/>
                          <a:sym typeface="Times New Roman"/>
                        </a:rPr>
                        <a:t>IoT Smart Tracking Device</a:t>
                      </a:r>
                      <a:endParaRPr sz="1850" u="none" strike="noStrike" cap="none" dirty="0">
                        <a:latin typeface="Times New Roman"/>
                        <a:ea typeface="Times New Roman"/>
                        <a:cs typeface="Times New Roman"/>
                        <a:sym typeface="Times New Roman"/>
                      </a:endParaRPr>
                    </a:p>
                    <a:p>
                      <a:pPr marL="50165" marR="0" lvl="0" indent="0" algn="l" rtl="0">
                        <a:lnSpc>
                          <a:spcPct val="100000"/>
                        </a:lnSpc>
                        <a:spcBef>
                          <a:spcPts val="110"/>
                        </a:spcBef>
                        <a:spcAft>
                          <a:spcPts val="0"/>
                        </a:spcAft>
                        <a:buNone/>
                      </a:pPr>
                      <a:r>
                        <a:rPr lang="en-US" sz="1850" u="none" strike="noStrike" cap="none" dirty="0">
                          <a:latin typeface="Times New Roman"/>
                          <a:ea typeface="Times New Roman"/>
                          <a:cs typeface="Times New Roman"/>
                          <a:sym typeface="Times New Roman"/>
                        </a:rPr>
                        <a:t>for Missing Person Finder</a:t>
                      </a:r>
                      <a:endParaRPr sz="1850" u="none" strike="noStrike" cap="none" dirty="0">
                        <a:latin typeface="Times New Roman"/>
                        <a:ea typeface="Times New Roman"/>
                        <a:cs typeface="Times New Roman"/>
                        <a:sym typeface="Times New Roman"/>
                      </a:endParaRPr>
                    </a:p>
                  </a:txBody>
                  <a:tcPr marL="0" marR="0" marT="1085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None/>
                      </a:pPr>
                      <a:endParaRPr sz="1850" u="none" strike="noStrike" cap="none" dirty="0">
                        <a:latin typeface="Times New Roman"/>
                        <a:ea typeface="Times New Roman"/>
                        <a:cs typeface="Times New Roman"/>
                        <a:sym typeface="Times New Roman"/>
                      </a:endParaRPr>
                    </a:p>
                    <a:p>
                      <a:pPr marL="80010" marR="0" lvl="0" indent="0" algn="l" rtl="0">
                        <a:lnSpc>
                          <a:spcPct val="100000"/>
                        </a:lnSpc>
                        <a:spcBef>
                          <a:spcPts val="0"/>
                        </a:spcBef>
                        <a:spcAft>
                          <a:spcPts val="0"/>
                        </a:spcAft>
                        <a:buNone/>
                      </a:pPr>
                      <a:r>
                        <a:rPr lang="en-US" sz="1850" u="none" strike="noStrike" cap="none" dirty="0">
                          <a:latin typeface="Times New Roman"/>
                          <a:ea typeface="Times New Roman"/>
                          <a:cs typeface="Times New Roman"/>
                          <a:sym typeface="Times New Roman"/>
                        </a:rPr>
                        <a:t>R. Brinda et al.</a:t>
                      </a:r>
                      <a:endParaRPr sz="1850" u="none" strike="noStrike" cap="none" dirty="0">
                        <a:latin typeface="Times New Roman"/>
                        <a:ea typeface="Times New Roman"/>
                        <a:cs typeface="Times New Roman"/>
                        <a:sym typeface="Times New Roman"/>
                      </a:endParaRPr>
                    </a:p>
                    <a:p>
                      <a:pPr marL="80010" marR="0" lvl="0" indent="0" algn="l" rtl="0">
                        <a:lnSpc>
                          <a:spcPct val="100000"/>
                        </a:lnSpc>
                        <a:spcBef>
                          <a:spcPts val="110"/>
                        </a:spcBef>
                        <a:spcAft>
                          <a:spcPts val="0"/>
                        </a:spcAft>
                        <a:buNone/>
                      </a:pPr>
                      <a:r>
                        <a:rPr lang="en-US" sz="1850" u="none" strike="noStrike" cap="none" dirty="0">
                          <a:latin typeface="Times New Roman"/>
                          <a:ea typeface="Times New Roman"/>
                          <a:cs typeface="Times New Roman"/>
                          <a:sym typeface="Times New Roman"/>
                        </a:rPr>
                        <a:t>2022</a:t>
                      </a:r>
                      <a:endParaRPr sz="1850" u="none" strike="noStrike" cap="none" dirty="0">
                        <a:latin typeface="Times New Roman"/>
                        <a:ea typeface="Times New Roman"/>
                        <a:cs typeface="Times New Roman"/>
                        <a:sym typeface="Times New Roman"/>
                      </a:endParaRPr>
                    </a:p>
                  </a:txBody>
                  <a:tcPr marL="0" marR="0" marT="1085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56845" marR="192405" lvl="0" indent="0" algn="l" rtl="0">
                        <a:lnSpc>
                          <a:spcPct val="103099"/>
                        </a:lnSpc>
                        <a:spcBef>
                          <a:spcPts val="0"/>
                        </a:spcBef>
                        <a:spcAft>
                          <a:spcPts val="0"/>
                        </a:spcAft>
                        <a:buNone/>
                      </a:pPr>
                      <a:r>
                        <a:rPr lang="en-US" sz="1850" u="none" strike="noStrike" cap="none" dirty="0">
                          <a:latin typeface="Times New Roman"/>
                          <a:ea typeface="Times New Roman"/>
                          <a:cs typeface="Times New Roman"/>
                          <a:sym typeface="Times New Roman"/>
                        </a:rPr>
                        <a:t>Utilizes GPS and GSM for real-time tracking; data stored on a web server; multiple user roles for data management.</a:t>
                      </a:r>
                      <a:endParaRPr sz="1850" u="none" strike="noStrike" cap="none" dirty="0">
                        <a:latin typeface="Times New Roman"/>
                        <a:ea typeface="Times New Roman"/>
                        <a:cs typeface="Times New Roman"/>
                        <a:sym typeface="Times New Roman"/>
                      </a:endParaRPr>
                    </a:p>
                  </a:txBody>
                  <a:tcPr marL="0" marR="0" marT="539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64769" marR="56514" lvl="0" indent="0" algn="l" rtl="0">
                        <a:lnSpc>
                          <a:spcPct val="103099"/>
                        </a:lnSpc>
                        <a:spcBef>
                          <a:spcPts val="0"/>
                        </a:spcBef>
                        <a:spcAft>
                          <a:spcPts val="0"/>
                        </a:spcAft>
                        <a:buNone/>
                      </a:pPr>
                      <a:r>
                        <a:rPr lang="en-US" sz="1850" u="none" strike="noStrike" cap="none" dirty="0">
                          <a:latin typeface="Times New Roman"/>
                          <a:ea typeface="Times New Roman"/>
                          <a:cs typeface="Times New Roman"/>
                          <a:sym typeface="Times New Roman"/>
                        </a:rPr>
                        <a:t>Relies on GPS/GSM, not focused on video- based searches.</a:t>
                      </a:r>
                      <a:endParaRPr sz="1850" u="none" strike="noStrike" cap="none" dirty="0">
                        <a:latin typeface="Times New Roman"/>
                        <a:ea typeface="Times New Roman"/>
                        <a:cs typeface="Times New Roman"/>
                        <a:sym typeface="Times New Roman"/>
                      </a:endParaRPr>
                    </a:p>
                  </a:txBody>
                  <a:tcPr marL="0" marR="0" marT="539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62"/>
        <p:cNvGrpSpPr/>
        <p:nvPr/>
      </p:nvGrpSpPr>
      <p:grpSpPr>
        <a:xfrm>
          <a:off x="0" y="0"/>
          <a:ext cx="0" cy="0"/>
          <a:chOff x="0" y="0"/>
          <a:chExt cx="0" cy="0"/>
        </a:xfrm>
      </p:grpSpPr>
      <p:graphicFrame>
        <p:nvGraphicFramePr>
          <p:cNvPr id="63" name="Google Shape;63;p4"/>
          <p:cNvGraphicFramePr/>
          <p:nvPr>
            <p:extLst>
              <p:ext uri="{D42A27DB-BD31-4B8C-83A1-F6EECF244321}">
                <p14:modId xmlns:p14="http://schemas.microsoft.com/office/powerpoint/2010/main" val="278268155"/>
              </p:ext>
            </p:extLst>
          </p:nvPr>
        </p:nvGraphicFramePr>
        <p:xfrm>
          <a:off x="390397" y="2118896"/>
          <a:ext cx="11446003" cy="3169541"/>
        </p:xfrm>
        <a:graphic>
          <a:graphicData uri="http://schemas.openxmlformats.org/drawingml/2006/table">
            <a:tbl>
              <a:tblPr firstRow="1" bandRow="1">
                <a:noFill/>
                <a:tableStyleId>{36339A65-334F-4BDC-BE0B-82BCC501CBD1}</a:tableStyleId>
              </a:tblPr>
              <a:tblGrid>
                <a:gridCol w="339056">
                  <a:extLst>
                    <a:ext uri="{9D8B030D-6E8A-4147-A177-3AD203B41FA5}">
                      <a16:colId xmlns:a16="http://schemas.microsoft.com/office/drawing/2014/main" val="20000"/>
                    </a:ext>
                  </a:extLst>
                </a:gridCol>
                <a:gridCol w="2430307">
                  <a:extLst>
                    <a:ext uri="{9D8B030D-6E8A-4147-A177-3AD203B41FA5}">
                      <a16:colId xmlns:a16="http://schemas.microsoft.com/office/drawing/2014/main" val="20001"/>
                    </a:ext>
                  </a:extLst>
                </a:gridCol>
                <a:gridCol w="1849120">
                  <a:extLst>
                    <a:ext uri="{9D8B030D-6E8A-4147-A177-3AD203B41FA5}">
                      <a16:colId xmlns:a16="http://schemas.microsoft.com/office/drawing/2014/main" val="20002"/>
                    </a:ext>
                  </a:extLst>
                </a:gridCol>
                <a:gridCol w="3952240">
                  <a:extLst>
                    <a:ext uri="{9D8B030D-6E8A-4147-A177-3AD203B41FA5}">
                      <a16:colId xmlns:a16="http://schemas.microsoft.com/office/drawing/2014/main" val="20003"/>
                    </a:ext>
                  </a:extLst>
                </a:gridCol>
                <a:gridCol w="2875280">
                  <a:extLst>
                    <a:ext uri="{9D8B030D-6E8A-4147-A177-3AD203B41FA5}">
                      <a16:colId xmlns:a16="http://schemas.microsoft.com/office/drawing/2014/main" val="20004"/>
                    </a:ext>
                  </a:extLst>
                </a:gridCol>
              </a:tblGrid>
              <a:tr h="1737350">
                <a:tc>
                  <a:txBody>
                    <a:bodyPr/>
                    <a:lstStyle/>
                    <a:p>
                      <a:pPr marL="0" marR="0" lvl="0" indent="0" algn="l" rtl="0">
                        <a:lnSpc>
                          <a:spcPct val="100000"/>
                        </a:lnSpc>
                        <a:spcBef>
                          <a:spcPts val="0"/>
                        </a:spcBef>
                        <a:spcAft>
                          <a:spcPts val="0"/>
                        </a:spcAft>
                        <a:buNone/>
                      </a:pPr>
                      <a:endParaRPr sz="1850" u="none" strike="noStrike" cap="none" dirty="0">
                        <a:latin typeface="Times New Roman"/>
                        <a:ea typeface="Times New Roman"/>
                        <a:cs typeface="Times New Roman"/>
                        <a:sym typeface="Times New Roman"/>
                      </a:endParaRPr>
                    </a:p>
                    <a:p>
                      <a:pPr marL="0" marR="0" lvl="0" indent="0" algn="l" rtl="0">
                        <a:lnSpc>
                          <a:spcPct val="100000"/>
                        </a:lnSpc>
                        <a:spcBef>
                          <a:spcPts val="1520"/>
                        </a:spcBef>
                        <a:spcAft>
                          <a:spcPts val="0"/>
                        </a:spcAft>
                        <a:buNone/>
                      </a:pPr>
                      <a:endParaRPr sz="1850" u="none" strike="noStrike" cap="none" dirty="0">
                        <a:latin typeface="Times New Roman"/>
                        <a:ea typeface="Times New Roman"/>
                        <a:cs typeface="Times New Roman"/>
                        <a:sym typeface="Times New Roman"/>
                      </a:endParaRPr>
                    </a:p>
                    <a:p>
                      <a:pPr marL="31750" marR="0" lvl="0" indent="0" algn="l" rtl="0">
                        <a:lnSpc>
                          <a:spcPct val="100000"/>
                        </a:lnSpc>
                        <a:spcBef>
                          <a:spcPts val="0"/>
                        </a:spcBef>
                        <a:spcAft>
                          <a:spcPts val="0"/>
                        </a:spcAft>
                        <a:buNone/>
                      </a:pPr>
                      <a:r>
                        <a:rPr lang="en-US" sz="1850" u="none" strike="noStrike" cap="none" dirty="0">
                          <a:latin typeface="Times New Roman"/>
                          <a:ea typeface="Times New Roman"/>
                          <a:cs typeface="Times New Roman"/>
                          <a:sym typeface="Times New Roman"/>
                        </a:rPr>
                        <a:t>4.</a:t>
                      </a:r>
                      <a:endParaRPr sz="1850" u="none" strike="noStrike" cap="none" dirty="0">
                        <a:latin typeface="Times New Roman"/>
                        <a:ea typeface="Times New Roman"/>
                        <a:cs typeface="Times New Roman"/>
                        <a:sym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6514" marR="0" lvl="0" indent="0" algn="l" rtl="0">
                        <a:lnSpc>
                          <a:spcPct val="108864"/>
                        </a:lnSpc>
                        <a:spcBef>
                          <a:spcPts val="0"/>
                        </a:spcBef>
                        <a:spcAft>
                          <a:spcPts val="0"/>
                        </a:spcAft>
                        <a:buClr>
                          <a:srgbClr val="000000"/>
                        </a:buClr>
                        <a:buFont typeface="Arial"/>
                        <a:buNone/>
                      </a:pPr>
                      <a:endParaRPr sz="1850" b="0" i="0" u="none" strike="noStrike" cap="none" dirty="0">
                        <a:solidFill>
                          <a:schemeClr val="dk1"/>
                        </a:solidFill>
                        <a:latin typeface="Times New Roman"/>
                        <a:ea typeface="Times New Roman"/>
                        <a:cs typeface="Times New Roman"/>
                        <a:sym typeface="Times New Roman"/>
                      </a:endParaRPr>
                    </a:p>
                    <a:p>
                      <a:pPr marL="56514" marR="0" lvl="0" indent="0" algn="l" rtl="0">
                        <a:lnSpc>
                          <a:spcPct val="108864"/>
                        </a:lnSpc>
                        <a:spcBef>
                          <a:spcPts val="0"/>
                        </a:spcBef>
                        <a:spcAft>
                          <a:spcPts val="0"/>
                        </a:spcAft>
                        <a:buClr>
                          <a:srgbClr val="000000"/>
                        </a:buClr>
                        <a:buFont typeface="Arial"/>
                        <a:buNone/>
                      </a:pPr>
                      <a:r>
                        <a:rPr lang="en-US" sz="1850" b="0" i="0" u="none" strike="noStrike" cap="none" dirty="0">
                          <a:solidFill>
                            <a:schemeClr val="dk1"/>
                          </a:solidFill>
                          <a:latin typeface="Times New Roman"/>
                          <a:ea typeface="Times New Roman"/>
                          <a:cs typeface="Times New Roman"/>
                          <a:sym typeface="Times New Roman"/>
                        </a:rPr>
                        <a:t>Identification of Missing Person Using Convolutional Neural Networks</a:t>
                      </a:r>
                      <a:endParaRPr sz="1850" b="0" i="0" u="none" strike="noStrike" cap="none" dirty="0">
                        <a:solidFill>
                          <a:schemeClr val="dk1"/>
                        </a:solidFill>
                        <a:latin typeface="Times New Roman"/>
                        <a:ea typeface="Times New Roman"/>
                        <a:cs typeface="Times New Roman"/>
                        <a:sym typeface="Times New Roman"/>
                      </a:endParaRPr>
                    </a:p>
                  </a:txBody>
                  <a:tcPr marL="0" marR="0" marT="1352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6514" marR="0" lvl="0" indent="0" algn="l" rtl="0">
                        <a:lnSpc>
                          <a:spcPct val="108864"/>
                        </a:lnSpc>
                        <a:spcBef>
                          <a:spcPts val="0"/>
                        </a:spcBef>
                        <a:spcAft>
                          <a:spcPts val="0"/>
                        </a:spcAft>
                        <a:buClr>
                          <a:srgbClr val="000000"/>
                        </a:buClr>
                        <a:buFont typeface="Arial"/>
                        <a:buNone/>
                      </a:pPr>
                      <a:endParaRPr sz="1850" b="0" i="0" u="none" strike="noStrike" cap="none" dirty="0">
                        <a:solidFill>
                          <a:schemeClr val="dk1"/>
                        </a:solidFill>
                        <a:latin typeface="Times New Roman"/>
                        <a:ea typeface="Times New Roman"/>
                        <a:cs typeface="Times New Roman"/>
                        <a:sym typeface="Times New Roman"/>
                      </a:endParaRPr>
                    </a:p>
                    <a:p>
                      <a:pPr marL="56514" marR="0" lvl="0" indent="0" algn="l" rtl="0">
                        <a:lnSpc>
                          <a:spcPct val="108864"/>
                        </a:lnSpc>
                        <a:spcBef>
                          <a:spcPts val="0"/>
                        </a:spcBef>
                        <a:spcAft>
                          <a:spcPts val="0"/>
                        </a:spcAft>
                        <a:buClr>
                          <a:srgbClr val="000000"/>
                        </a:buClr>
                        <a:buFont typeface="Arial"/>
                        <a:buNone/>
                      </a:pPr>
                      <a:r>
                        <a:rPr lang="en-US" sz="1850" b="0" i="0" u="none" strike="noStrike" cap="none" dirty="0">
                          <a:solidFill>
                            <a:schemeClr val="dk1"/>
                          </a:solidFill>
                          <a:latin typeface="Times New Roman"/>
                          <a:ea typeface="Times New Roman"/>
                          <a:cs typeface="Times New Roman"/>
                          <a:sym typeface="Times New Roman"/>
                        </a:rPr>
                        <a:t>P.D N Harsha Sai et al.</a:t>
                      </a:r>
                      <a:endParaRPr sz="1850" b="0" i="0" u="none" strike="noStrike" cap="none" dirty="0">
                        <a:solidFill>
                          <a:schemeClr val="dk1"/>
                        </a:solidFill>
                        <a:latin typeface="Times New Roman"/>
                        <a:ea typeface="Times New Roman"/>
                        <a:cs typeface="Times New Roman"/>
                        <a:sym typeface="Times New Roman"/>
                      </a:endParaRPr>
                    </a:p>
                    <a:p>
                      <a:pPr marL="56514" marR="0" lvl="0" indent="0" algn="l" rtl="0">
                        <a:lnSpc>
                          <a:spcPct val="108864"/>
                        </a:lnSpc>
                        <a:spcBef>
                          <a:spcPts val="0"/>
                        </a:spcBef>
                        <a:spcAft>
                          <a:spcPts val="0"/>
                        </a:spcAft>
                        <a:buClr>
                          <a:srgbClr val="000000"/>
                        </a:buClr>
                        <a:buFont typeface="Arial"/>
                        <a:buNone/>
                      </a:pPr>
                      <a:r>
                        <a:rPr lang="en-US" sz="1850" b="0" i="0" u="none" strike="noStrike" cap="none" dirty="0">
                          <a:solidFill>
                            <a:schemeClr val="dk1"/>
                          </a:solidFill>
                          <a:latin typeface="Times New Roman"/>
                          <a:ea typeface="Times New Roman"/>
                          <a:cs typeface="Times New Roman"/>
                          <a:sym typeface="Times New Roman"/>
                        </a:rPr>
                        <a:t>2022</a:t>
                      </a:r>
                      <a:endParaRPr sz="1850" b="0" i="0" u="none" strike="noStrike" cap="none" dirty="0">
                        <a:solidFill>
                          <a:schemeClr val="dk1"/>
                        </a:solidFill>
                        <a:latin typeface="Times New Roman"/>
                        <a:ea typeface="Times New Roman"/>
                        <a:cs typeface="Times New Roman"/>
                        <a:sym typeface="Times New Roman"/>
                      </a:endParaRPr>
                    </a:p>
                  </a:txBody>
                  <a:tcPr marL="0" marR="0" marT="1435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6514" marR="0" lvl="0" indent="0" algn="l" rtl="0">
                        <a:lnSpc>
                          <a:spcPct val="108864"/>
                        </a:lnSpc>
                        <a:spcBef>
                          <a:spcPts val="0"/>
                        </a:spcBef>
                        <a:spcAft>
                          <a:spcPts val="0"/>
                        </a:spcAft>
                        <a:buClr>
                          <a:srgbClr val="000000"/>
                        </a:buClr>
                        <a:buFont typeface="Arial"/>
                        <a:buNone/>
                      </a:pPr>
                      <a:endParaRPr sz="1850" b="0" i="0" u="none" strike="noStrike" cap="none" dirty="0">
                        <a:solidFill>
                          <a:schemeClr val="dk1"/>
                        </a:solidFill>
                        <a:latin typeface="Times New Roman"/>
                        <a:ea typeface="Times New Roman"/>
                        <a:cs typeface="Times New Roman"/>
                        <a:sym typeface="Times New Roman"/>
                      </a:endParaRPr>
                    </a:p>
                    <a:p>
                      <a:pPr marL="56514" marR="0" lvl="0" indent="0" algn="l" rtl="0">
                        <a:lnSpc>
                          <a:spcPct val="108864"/>
                        </a:lnSpc>
                        <a:spcBef>
                          <a:spcPts val="0"/>
                        </a:spcBef>
                        <a:spcAft>
                          <a:spcPts val="0"/>
                        </a:spcAft>
                        <a:buClr>
                          <a:srgbClr val="000000"/>
                        </a:buClr>
                        <a:buFont typeface="Arial"/>
                        <a:buNone/>
                      </a:pPr>
                      <a:r>
                        <a:rPr lang="en-US" sz="1850" b="0" i="0" u="none" strike="noStrike" cap="none" dirty="0">
                          <a:solidFill>
                            <a:schemeClr val="dk1"/>
                          </a:solidFill>
                          <a:latin typeface="Times New Roman"/>
                          <a:ea typeface="Times New Roman"/>
                          <a:cs typeface="Times New Roman"/>
                          <a:sym typeface="Times New Roman"/>
                        </a:rPr>
                        <a:t>Uses VGG16 CNN for face recognition; preprocesses and augments data for training.</a:t>
                      </a:r>
                      <a:endParaRPr sz="1850" b="0" i="0" u="none" strike="noStrike" cap="none" dirty="0">
                        <a:solidFill>
                          <a:schemeClr val="dk1"/>
                        </a:solidFill>
                        <a:latin typeface="Times New Roman"/>
                        <a:ea typeface="Times New Roman"/>
                        <a:cs typeface="Times New Roman"/>
                        <a:sym typeface="Times New Roman"/>
                      </a:endParaRPr>
                    </a:p>
                  </a:txBody>
                  <a:tcPr marL="0" marR="0" marT="1352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6514" marR="0" lvl="0" indent="0" algn="l" rtl="0">
                        <a:lnSpc>
                          <a:spcPct val="108864"/>
                        </a:lnSpc>
                        <a:spcBef>
                          <a:spcPts val="0"/>
                        </a:spcBef>
                        <a:spcAft>
                          <a:spcPts val="0"/>
                        </a:spcAft>
                        <a:buClr>
                          <a:srgbClr val="000000"/>
                        </a:buClr>
                        <a:buFont typeface="Arial"/>
                        <a:buNone/>
                      </a:pPr>
                      <a:endParaRPr lang="en-US" sz="1850" b="0" i="0" u="none" strike="noStrike" cap="none" dirty="0">
                        <a:solidFill>
                          <a:schemeClr val="dk1"/>
                        </a:solidFill>
                        <a:latin typeface="Times New Roman"/>
                        <a:ea typeface="Times New Roman"/>
                        <a:cs typeface="Times New Roman"/>
                        <a:sym typeface="Times New Roman"/>
                      </a:endParaRPr>
                    </a:p>
                    <a:p>
                      <a:pPr marL="56514" marR="0" lvl="0" indent="0" algn="l" rtl="0">
                        <a:lnSpc>
                          <a:spcPct val="108864"/>
                        </a:lnSpc>
                        <a:spcBef>
                          <a:spcPts val="0"/>
                        </a:spcBef>
                        <a:spcAft>
                          <a:spcPts val="0"/>
                        </a:spcAft>
                        <a:buClr>
                          <a:srgbClr val="000000"/>
                        </a:buClr>
                        <a:buFont typeface="Arial"/>
                        <a:buNone/>
                      </a:pPr>
                      <a:r>
                        <a:rPr lang="en-US" sz="1850" b="0" i="0" u="none" strike="noStrike" cap="none" dirty="0">
                          <a:solidFill>
                            <a:schemeClr val="dk1"/>
                          </a:solidFill>
                          <a:latin typeface="Times New Roman"/>
                          <a:ea typeface="Times New Roman"/>
                          <a:cs typeface="Times New Roman"/>
                          <a:sym typeface="Times New Roman"/>
                        </a:rPr>
                        <a:t>Accuracy dependent on data quality; CNN models can be </a:t>
                      </a:r>
                    </a:p>
                    <a:p>
                      <a:pPr marL="56514" marR="0" lvl="0" indent="0" algn="l" rtl="0">
                        <a:lnSpc>
                          <a:spcPct val="108864"/>
                        </a:lnSpc>
                        <a:spcBef>
                          <a:spcPts val="0"/>
                        </a:spcBef>
                        <a:spcAft>
                          <a:spcPts val="0"/>
                        </a:spcAft>
                        <a:buClr>
                          <a:srgbClr val="000000"/>
                        </a:buClr>
                        <a:buFont typeface="Arial"/>
                        <a:buNone/>
                      </a:pPr>
                      <a:r>
                        <a:rPr lang="en-US" sz="1850" b="0" i="0" u="none" strike="noStrike" cap="none" dirty="0">
                          <a:solidFill>
                            <a:schemeClr val="dk1"/>
                          </a:solidFill>
                          <a:latin typeface="Times New Roman"/>
                          <a:ea typeface="Times New Roman"/>
                          <a:cs typeface="Times New Roman"/>
                          <a:sym typeface="Times New Roman"/>
                        </a:rPr>
                        <a:t>resource- intensive.</a:t>
                      </a:r>
                      <a:endParaRPr sz="1850" b="0" i="0" u="none" strike="noStrike" cap="none" dirty="0">
                        <a:solidFill>
                          <a:schemeClr val="dk1"/>
                        </a:solidFill>
                        <a:latin typeface="Times New Roman"/>
                        <a:ea typeface="Times New Roman"/>
                        <a:cs typeface="Times New Roman"/>
                        <a:sym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432191">
                <a:tc>
                  <a:txBody>
                    <a:bodyPr/>
                    <a:lstStyle/>
                    <a:p>
                      <a:pPr marL="0" marR="0" lvl="0" indent="0" algn="l" rtl="0">
                        <a:lnSpc>
                          <a:spcPct val="100000"/>
                        </a:lnSpc>
                        <a:spcBef>
                          <a:spcPts val="0"/>
                        </a:spcBef>
                        <a:spcAft>
                          <a:spcPts val="0"/>
                        </a:spcAft>
                        <a:buNone/>
                      </a:pPr>
                      <a:endParaRPr sz="1850" u="none" strike="noStrike" cap="none" dirty="0">
                        <a:latin typeface="Times New Roman"/>
                        <a:ea typeface="Times New Roman"/>
                        <a:cs typeface="Times New Roman"/>
                        <a:sym typeface="Times New Roman"/>
                      </a:endParaRPr>
                    </a:p>
                    <a:p>
                      <a:pPr marL="0" marR="0" lvl="0" indent="0" algn="l" rtl="0">
                        <a:lnSpc>
                          <a:spcPct val="100000"/>
                        </a:lnSpc>
                        <a:spcBef>
                          <a:spcPts val="610"/>
                        </a:spcBef>
                        <a:spcAft>
                          <a:spcPts val="0"/>
                        </a:spcAft>
                        <a:buNone/>
                      </a:pPr>
                      <a:endParaRPr sz="1850" u="none" strike="noStrike" cap="none" dirty="0">
                        <a:latin typeface="Times New Roman"/>
                        <a:ea typeface="Times New Roman"/>
                        <a:cs typeface="Times New Roman"/>
                        <a:sym typeface="Times New Roman"/>
                      </a:endParaRPr>
                    </a:p>
                    <a:p>
                      <a:pPr marL="31750" marR="0" lvl="0" indent="0" algn="l" rtl="0">
                        <a:lnSpc>
                          <a:spcPct val="100000"/>
                        </a:lnSpc>
                        <a:spcBef>
                          <a:spcPts val="5"/>
                        </a:spcBef>
                        <a:spcAft>
                          <a:spcPts val="0"/>
                        </a:spcAft>
                        <a:buNone/>
                      </a:pPr>
                      <a:r>
                        <a:rPr lang="en-US" sz="1850" u="none" strike="noStrike" cap="none" dirty="0">
                          <a:latin typeface="Times New Roman"/>
                          <a:ea typeface="Times New Roman"/>
                          <a:cs typeface="Times New Roman"/>
                          <a:sym typeface="Times New Roman"/>
                        </a:rPr>
                        <a:t>5.</a:t>
                      </a:r>
                      <a:endParaRPr sz="1850" u="none" strike="noStrike" cap="none" dirty="0">
                        <a:latin typeface="Times New Roman"/>
                        <a:ea typeface="Times New Roman"/>
                        <a:cs typeface="Times New Roman"/>
                        <a:sym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6514" marR="0" lvl="0" indent="0" algn="l" rtl="0">
                        <a:lnSpc>
                          <a:spcPct val="108864"/>
                        </a:lnSpc>
                        <a:spcBef>
                          <a:spcPts val="0"/>
                        </a:spcBef>
                        <a:spcAft>
                          <a:spcPts val="0"/>
                        </a:spcAft>
                        <a:buClr>
                          <a:srgbClr val="000000"/>
                        </a:buClr>
                        <a:buFont typeface="Arial"/>
                        <a:buNone/>
                      </a:pPr>
                      <a:r>
                        <a:rPr lang="en-US" sz="1850" b="0" i="0" u="none" strike="noStrike" cap="none" dirty="0">
                          <a:solidFill>
                            <a:schemeClr val="dk1"/>
                          </a:solidFill>
                          <a:latin typeface="Times New Roman"/>
                          <a:ea typeface="Times New Roman"/>
                          <a:cs typeface="Times New Roman"/>
                          <a:sym typeface="Times New Roman"/>
                        </a:rPr>
                        <a:t>Detection of Missing</a:t>
                      </a:r>
                      <a:endParaRPr sz="1850" b="0" i="0" u="none" strike="noStrike" cap="none" dirty="0">
                        <a:solidFill>
                          <a:schemeClr val="dk1"/>
                        </a:solidFill>
                        <a:latin typeface="Times New Roman"/>
                        <a:ea typeface="Times New Roman"/>
                        <a:cs typeface="Times New Roman"/>
                        <a:sym typeface="Times New Roman"/>
                      </a:endParaRPr>
                    </a:p>
                    <a:p>
                      <a:pPr marL="56514" marR="0" lvl="0" indent="0" algn="l" rtl="0">
                        <a:lnSpc>
                          <a:spcPct val="108864"/>
                        </a:lnSpc>
                        <a:spcBef>
                          <a:spcPts val="0"/>
                        </a:spcBef>
                        <a:spcAft>
                          <a:spcPts val="0"/>
                        </a:spcAft>
                        <a:buClr>
                          <a:srgbClr val="000000"/>
                        </a:buClr>
                        <a:buFont typeface="Arial"/>
                        <a:buNone/>
                      </a:pPr>
                      <a:r>
                        <a:rPr lang="en-US" sz="1850" b="0" i="0" u="none" strike="noStrike" cap="none" dirty="0">
                          <a:solidFill>
                            <a:schemeClr val="dk1"/>
                          </a:solidFill>
                          <a:latin typeface="Times New Roman"/>
                          <a:ea typeface="Times New Roman"/>
                          <a:cs typeface="Times New Roman"/>
                          <a:sym typeface="Times New Roman"/>
                        </a:rPr>
                        <a:t>Persons Using Mobile App</a:t>
                      </a:r>
                      <a:endParaRPr sz="1850" b="0" i="0" u="none" strike="noStrike" cap="none" dirty="0">
                        <a:solidFill>
                          <a:schemeClr val="dk1"/>
                        </a:solidFill>
                        <a:latin typeface="Times New Roman"/>
                        <a:ea typeface="Times New Roman"/>
                        <a:cs typeface="Times New Roman"/>
                        <a:sym typeface="Times New Roman"/>
                      </a:endParaRPr>
                    </a:p>
                  </a:txBody>
                  <a:tcPr marL="0" marR="0" marT="1079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6514" marR="0" lvl="0" indent="0" algn="l" rtl="0">
                        <a:lnSpc>
                          <a:spcPct val="108864"/>
                        </a:lnSpc>
                        <a:spcBef>
                          <a:spcPts val="0"/>
                        </a:spcBef>
                        <a:spcAft>
                          <a:spcPts val="0"/>
                        </a:spcAft>
                        <a:buClr>
                          <a:srgbClr val="000000"/>
                        </a:buClr>
                        <a:buFont typeface="Arial"/>
                        <a:buNone/>
                      </a:pPr>
                      <a:r>
                        <a:rPr lang="en-US" sz="1850" b="0" i="0" u="none" strike="noStrike" cap="none" dirty="0">
                          <a:solidFill>
                            <a:schemeClr val="dk1"/>
                          </a:solidFill>
                          <a:latin typeface="Times New Roman"/>
                          <a:ea typeface="Times New Roman"/>
                          <a:cs typeface="Times New Roman"/>
                          <a:sym typeface="Times New Roman"/>
                        </a:rPr>
                        <a:t>Mohan Datta </a:t>
                      </a:r>
                      <a:r>
                        <a:rPr lang="en-US" sz="1850" b="0" i="0" u="none" strike="noStrike" cap="none" dirty="0" err="1">
                          <a:solidFill>
                            <a:schemeClr val="dk1"/>
                          </a:solidFill>
                          <a:latin typeface="Times New Roman"/>
                          <a:ea typeface="Times New Roman"/>
                          <a:cs typeface="Times New Roman"/>
                          <a:sym typeface="Times New Roman"/>
                        </a:rPr>
                        <a:t>Inavolu</a:t>
                      </a:r>
                      <a:r>
                        <a:rPr lang="en-US" sz="1850" b="0" i="0" u="none" strike="noStrike" cap="none" dirty="0">
                          <a:solidFill>
                            <a:schemeClr val="dk1"/>
                          </a:solidFill>
                          <a:latin typeface="Times New Roman"/>
                          <a:ea typeface="Times New Roman"/>
                          <a:cs typeface="Times New Roman"/>
                          <a:sym typeface="Times New Roman"/>
                        </a:rPr>
                        <a:t> et al. </a:t>
                      </a:r>
                    </a:p>
                    <a:p>
                      <a:pPr marL="56514" marR="0" lvl="0" indent="0" algn="l" rtl="0">
                        <a:lnSpc>
                          <a:spcPct val="108864"/>
                        </a:lnSpc>
                        <a:spcBef>
                          <a:spcPts val="0"/>
                        </a:spcBef>
                        <a:spcAft>
                          <a:spcPts val="0"/>
                        </a:spcAft>
                        <a:buClr>
                          <a:srgbClr val="000000"/>
                        </a:buClr>
                        <a:buFont typeface="Arial"/>
                        <a:buNone/>
                      </a:pPr>
                      <a:r>
                        <a:rPr lang="en-US" sz="1850" b="0" i="0" u="none" strike="noStrike" cap="none" dirty="0">
                          <a:solidFill>
                            <a:schemeClr val="dk1"/>
                          </a:solidFill>
                          <a:latin typeface="Times New Roman"/>
                          <a:ea typeface="Times New Roman"/>
                          <a:cs typeface="Times New Roman"/>
                          <a:sym typeface="Times New Roman"/>
                        </a:rPr>
                        <a:t>2023</a:t>
                      </a:r>
                      <a:endParaRPr sz="1850" b="0" i="0" u="none" strike="noStrike" cap="none" dirty="0">
                        <a:solidFill>
                          <a:schemeClr val="dk1"/>
                        </a:solidFill>
                        <a:latin typeface="Times New Roman"/>
                        <a:ea typeface="Times New Roman"/>
                        <a:cs typeface="Times New Roman"/>
                        <a:sym typeface="Times New Roman"/>
                      </a:endParaRPr>
                    </a:p>
                  </a:txBody>
                  <a:tcPr marL="0" marR="0" marT="2076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6514" marR="0" lvl="0" indent="0" algn="l" rtl="0">
                        <a:lnSpc>
                          <a:spcPct val="108864"/>
                        </a:lnSpc>
                        <a:spcBef>
                          <a:spcPts val="0"/>
                        </a:spcBef>
                        <a:spcAft>
                          <a:spcPts val="0"/>
                        </a:spcAft>
                        <a:buClr>
                          <a:srgbClr val="000000"/>
                        </a:buClr>
                        <a:buFont typeface="Arial"/>
                        <a:buNone/>
                      </a:pPr>
                      <a:r>
                        <a:rPr lang="en-US" sz="1850" b="0" i="0" u="none" strike="noStrike" cap="none" dirty="0">
                          <a:solidFill>
                            <a:schemeClr val="dk1"/>
                          </a:solidFill>
                          <a:latin typeface="Times New Roman"/>
                          <a:ea typeface="Times New Roman"/>
                          <a:cs typeface="Times New Roman"/>
                          <a:sym typeface="Times New Roman"/>
                        </a:rPr>
                        <a:t>App interface for entering missing person data; searches using name, age, etc.; includes call and share features.</a:t>
                      </a:r>
                      <a:endParaRPr sz="1850" b="0" i="0" u="none" strike="noStrike" cap="none" dirty="0">
                        <a:solidFill>
                          <a:schemeClr val="dk1"/>
                        </a:solidFill>
                        <a:latin typeface="Times New Roman"/>
                        <a:ea typeface="Times New Roman"/>
                        <a:cs typeface="Times New Roman"/>
                        <a:sym typeface="Times New Roman"/>
                      </a:endParaRPr>
                    </a:p>
                  </a:txBody>
                  <a:tcPr marL="0" marR="0" marT="2076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6514" marR="0" lvl="0" indent="0" algn="l" rtl="0">
                        <a:lnSpc>
                          <a:spcPct val="108864"/>
                        </a:lnSpc>
                        <a:spcBef>
                          <a:spcPts val="0"/>
                        </a:spcBef>
                        <a:spcAft>
                          <a:spcPts val="0"/>
                        </a:spcAft>
                        <a:buClr>
                          <a:srgbClr val="000000"/>
                        </a:buClr>
                        <a:buFont typeface="Arial"/>
                        <a:buNone/>
                      </a:pPr>
                      <a:r>
                        <a:rPr lang="en-US" sz="1850" b="0" i="0" u="none" strike="noStrike" cap="none" dirty="0">
                          <a:solidFill>
                            <a:schemeClr val="dk1"/>
                          </a:solidFill>
                          <a:latin typeface="Times New Roman"/>
                          <a:ea typeface="Times New Roman"/>
                          <a:cs typeface="Times New Roman"/>
                          <a:sym typeface="Times New Roman"/>
                        </a:rPr>
                        <a:t>Not specifically focused on video analysis; depends on user database.</a:t>
                      </a:r>
                      <a:endParaRPr sz="1850" b="0" i="0" u="none" strike="noStrike" cap="none" dirty="0">
                        <a:solidFill>
                          <a:schemeClr val="dk1"/>
                        </a:solidFill>
                        <a:latin typeface="Times New Roman"/>
                        <a:ea typeface="Times New Roman"/>
                        <a:cs typeface="Times New Roman"/>
                        <a:sym typeface="Times New Roman"/>
                      </a:endParaRPr>
                    </a:p>
                  </a:txBody>
                  <a:tcPr marL="0" marR="0" marT="641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64" name="Google Shape;64;p4"/>
          <p:cNvSpPr txBox="1">
            <a:spLocks noGrp="1"/>
          </p:cNvSpPr>
          <p:nvPr>
            <p:ph type="title"/>
          </p:nvPr>
        </p:nvSpPr>
        <p:spPr>
          <a:xfrm>
            <a:off x="1783420" y="874238"/>
            <a:ext cx="8659955" cy="69532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4400" dirty="0"/>
              <a:t>LITERATURE SURVEY Contd...</a:t>
            </a:r>
            <a:endParaRPr sz="4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68"/>
        <p:cNvGrpSpPr/>
        <p:nvPr/>
      </p:nvGrpSpPr>
      <p:grpSpPr>
        <a:xfrm>
          <a:off x="0" y="0"/>
          <a:ext cx="0" cy="0"/>
          <a:chOff x="0" y="0"/>
          <a:chExt cx="0" cy="0"/>
        </a:xfrm>
      </p:grpSpPr>
      <p:sp>
        <p:nvSpPr>
          <p:cNvPr id="69" name="Google Shape;69;p5"/>
          <p:cNvSpPr txBox="1">
            <a:spLocks noGrp="1"/>
          </p:cNvSpPr>
          <p:nvPr>
            <p:ph type="title"/>
          </p:nvPr>
        </p:nvSpPr>
        <p:spPr>
          <a:xfrm>
            <a:off x="2530716" y="965911"/>
            <a:ext cx="7130568" cy="69532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4400" dirty="0"/>
              <a:t>PROBLEM STATEMENT</a:t>
            </a:r>
            <a:endParaRPr sz="4400" dirty="0"/>
          </a:p>
        </p:txBody>
      </p:sp>
      <p:sp>
        <p:nvSpPr>
          <p:cNvPr id="70" name="Google Shape;70;p5"/>
          <p:cNvSpPr txBox="1"/>
          <p:nvPr/>
        </p:nvSpPr>
        <p:spPr>
          <a:xfrm>
            <a:off x="914806" y="2179380"/>
            <a:ext cx="9538335" cy="2221230"/>
          </a:xfrm>
          <a:prstGeom prst="rect">
            <a:avLst/>
          </a:prstGeom>
          <a:noFill/>
          <a:ln>
            <a:noFill/>
          </a:ln>
        </p:spPr>
        <p:txBody>
          <a:bodyPr spcFirstLastPara="1" wrap="square" lIns="0" tIns="12700" rIns="0" bIns="0" anchor="t" anchorCtr="0">
            <a:spAutoFit/>
          </a:bodyPr>
          <a:lstStyle/>
          <a:p>
            <a:pPr marL="12700" marR="5080" lvl="0" indent="0" algn="just" rtl="0">
              <a:lnSpc>
                <a:spcPct val="150100"/>
              </a:lnSpc>
              <a:spcBef>
                <a:spcPts val="0"/>
              </a:spcBef>
              <a:spcAft>
                <a:spcPts val="0"/>
              </a:spcAft>
              <a:buNone/>
            </a:pPr>
            <a:r>
              <a:rPr lang="en-US" sz="2400">
                <a:latin typeface="Times New Roman"/>
                <a:ea typeface="Times New Roman"/>
                <a:cs typeface="Times New Roman"/>
                <a:sym typeface="Times New Roman"/>
              </a:rPr>
              <a:t>Finding missing persons is challenging due to the labor-intensive process of manually sifting through extensive CCTV footage, requiring an automated AI-driven  system  to  efficiently  analyze  video  and  improve  search effectiveness.</a:t>
            </a:r>
            <a:endParaRPr sz="24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74"/>
        <p:cNvGrpSpPr/>
        <p:nvPr/>
      </p:nvGrpSpPr>
      <p:grpSpPr>
        <a:xfrm>
          <a:off x="0" y="0"/>
          <a:ext cx="0" cy="0"/>
          <a:chOff x="0" y="0"/>
          <a:chExt cx="0" cy="0"/>
        </a:xfrm>
      </p:grpSpPr>
      <p:sp>
        <p:nvSpPr>
          <p:cNvPr id="75" name="Google Shape;75;p6"/>
          <p:cNvSpPr txBox="1">
            <a:spLocks noGrp="1"/>
          </p:cNvSpPr>
          <p:nvPr>
            <p:ph type="title"/>
          </p:nvPr>
        </p:nvSpPr>
        <p:spPr>
          <a:xfrm>
            <a:off x="819810" y="232105"/>
            <a:ext cx="10229951" cy="1068090"/>
          </a:xfrm>
          <a:prstGeom prst="rect">
            <a:avLst/>
          </a:prstGeom>
          <a:noFill/>
          <a:ln>
            <a:noFill/>
          </a:ln>
        </p:spPr>
        <p:txBody>
          <a:bodyPr spcFirstLastPara="1" wrap="square" lIns="0" tIns="387200" rIns="0" bIns="0" anchor="t" anchorCtr="0">
            <a:spAutoFit/>
          </a:bodyPr>
          <a:lstStyle/>
          <a:p>
            <a:pPr marL="177165" lvl="0" indent="0" algn="ctr" rtl="0">
              <a:lnSpc>
                <a:spcPct val="100000"/>
              </a:lnSpc>
              <a:spcBef>
                <a:spcPts val="0"/>
              </a:spcBef>
              <a:spcAft>
                <a:spcPts val="0"/>
              </a:spcAft>
              <a:buNone/>
            </a:pPr>
            <a:r>
              <a:rPr lang="en-US" sz="4400" dirty="0"/>
              <a:t>OBJECTIVES</a:t>
            </a:r>
            <a:endParaRPr sz="4400" dirty="0"/>
          </a:p>
        </p:txBody>
      </p:sp>
      <p:sp>
        <p:nvSpPr>
          <p:cNvPr id="76" name="Google Shape;76;p6"/>
          <p:cNvSpPr txBox="1"/>
          <p:nvPr/>
        </p:nvSpPr>
        <p:spPr>
          <a:xfrm>
            <a:off x="957783" y="1830563"/>
            <a:ext cx="10523017" cy="3393543"/>
          </a:xfrm>
          <a:prstGeom prst="rect">
            <a:avLst/>
          </a:prstGeom>
          <a:noFill/>
          <a:ln>
            <a:noFill/>
          </a:ln>
        </p:spPr>
        <p:txBody>
          <a:bodyPr spcFirstLastPara="1" wrap="square" lIns="0" tIns="12050" rIns="0" bIns="0" anchor="t" anchorCtr="0">
            <a:spAutoFit/>
          </a:bodyPr>
          <a:lstStyle/>
          <a:p>
            <a:pPr marL="194310" marR="5080" indent="-181610" algn="just">
              <a:lnSpc>
                <a:spcPct val="151700"/>
              </a:lnSpc>
              <a:buSzPts val="2400"/>
              <a:buFont typeface="Arial"/>
              <a:buChar char="•"/>
            </a:pPr>
            <a:r>
              <a:rPr lang="en-US" sz="2400" dirty="0">
                <a:latin typeface="Times New Roman"/>
                <a:ea typeface="Times New Roman"/>
                <a:cs typeface="Times New Roman"/>
                <a:sym typeface="Times New Roman"/>
              </a:rPr>
              <a:t>To Develop	a web	portal to facilitate the entry of missing person details and photos.</a:t>
            </a:r>
          </a:p>
          <a:p>
            <a:pPr marL="194310" marR="5080" indent="-181610" algn="just">
              <a:lnSpc>
                <a:spcPct val="151700"/>
              </a:lnSpc>
              <a:buSzPts val="2400"/>
              <a:buFont typeface="Arial"/>
              <a:buChar char="•"/>
            </a:pPr>
            <a:r>
              <a:rPr lang="en-US" sz="2400" dirty="0">
                <a:latin typeface="Times New Roman"/>
                <a:ea typeface="Times New Roman"/>
                <a:cs typeface="Times New Roman"/>
                <a:sym typeface="Times New Roman"/>
              </a:rPr>
              <a:t>To Convert CCTV videos into frames for detailed analysis by the face recognition model.</a:t>
            </a:r>
          </a:p>
          <a:p>
            <a:pPr marL="194310" marR="5080" lvl="0" indent="-181610" algn="just" rtl="0">
              <a:lnSpc>
                <a:spcPct val="151700"/>
              </a:lnSpc>
              <a:spcBef>
                <a:spcPts val="0"/>
              </a:spcBef>
              <a:spcAft>
                <a:spcPts val="0"/>
              </a:spcAft>
              <a:buSzPts val="2400"/>
              <a:buFont typeface="Arial"/>
              <a:buChar char="•"/>
            </a:pPr>
            <a:r>
              <a:rPr lang="en-US" sz="2400" dirty="0">
                <a:latin typeface="Times New Roman"/>
                <a:ea typeface="Times New Roman"/>
                <a:cs typeface="Times New Roman"/>
                <a:sym typeface="Times New Roman"/>
              </a:rPr>
              <a:t>To Implement a deep learning model for face recognition	to analyze CCTV footage.</a:t>
            </a:r>
            <a:endParaRPr sz="2400" dirty="0">
              <a:latin typeface="Times New Roman"/>
              <a:ea typeface="Times New Roman"/>
              <a:cs typeface="Times New Roman"/>
              <a:sym typeface="Times New Roman"/>
            </a:endParaRPr>
          </a:p>
          <a:p>
            <a:pPr marL="302895" lvl="1" indent="-181610" algn="just" rtl="0">
              <a:lnSpc>
                <a:spcPct val="100000"/>
              </a:lnSpc>
              <a:spcBef>
                <a:spcPts val="1639"/>
              </a:spcBef>
              <a:spcAft>
                <a:spcPts val="0"/>
              </a:spcAft>
              <a:buSzPts val="2400"/>
              <a:buFont typeface="Arial"/>
              <a:buChar char="•"/>
            </a:pPr>
            <a:r>
              <a:rPr lang="en-US" sz="2400" dirty="0">
                <a:latin typeface="Times New Roman"/>
                <a:ea typeface="Times New Roman"/>
                <a:cs typeface="Times New Roman"/>
                <a:sym typeface="Times New Roman"/>
              </a:rPr>
              <a:t>To Notify relevant authorities and guardians when a match is detected.</a:t>
            </a:r>
            <a:endParaRPr sz="2400" dirty="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80"/>
        <p:cNvGrpSpPr/>
        <p:nvPr/>
      </p:nvGrpSpPr>
      <p:grpSpPr>
        <a:xfrm>
          <a:off x="0" y="0"/>
          <a:ext cx="0" cy="0"/>
          <a:chOff x="0" y="0"/>
          <a:chExt cx="0" cy="0"/>
        </a:xfrm>
      </p:grpSpPr>
      <p:sp>
        <p:nvSpPr>
          <p:cNvPr id="81" name="Google Shape;81;p7"/>
          <p:cNvSpPr txBox="1">
            <a:spLocks noGrp="1"/>
          </p:cNvSpPr>
          <p:nvPr>
            <p:ph type="title"/>
          </p:nvPr>
        </p:nvSpPr>
        <p:spPr>
          <a:xfrm>
            <a:off x="738530" y="232105"/>
            <a:ext cx="10229951" cy="943459"/>
          </a:xfrm>
          <a:prstGeom prst="rect">
            <a:avLst/>
          </a:prstGeom>
          <a:noFill/>
          <a:ln>
            <a:noFill/>
          </a:ln>
        </p:spPr>
        <p:txBody>
          <a:bodyPr spcFirstLastPara="1" wrap="square" lIns="0" tIns="263775" rIns="0" bIns="0" anchor="t" anchorCtr="0">
            <a:spAutoFit/>
          </a:bodyPr>
          <a:lstStyle/>
          <a:p>
            <a:pPr marL="316865" lvl="0" indent="0" algn="ctr" rtl="0">
              <a:lnSpc>
                <a:spcPct val="100000"/>
              </a:lnSpc>
              <a:spcBef>
                <a:spcPts val="0"/>
              </a:spcBef>
              <a:spcAft>
                <a:spcPts val="0"/>
              </a:spcAft>
              <a:buNone/>
            </a:pPr>
            <a:r>
              <a:rPr lang="en-US" sz="4400" dirty="0"/>
              <a:t>INTRODUCTION</a:t>
            </a:r>
            <a:endParaRPr sz="4400" dirty="0"/>
          </a:p>
        </p:txBody>
      </p:sp>
      <p:sp>
        <p:nvSpPr>
          <p:cNvPr id="82" name="Google Shape;82;p7"/>
          <p:cNvSpPr txBox="1"/>
          <p:nvPr/>
        </p:nvSpPr>
        <p:spPr>
          <a:xfrm>
            <a:off x="910234" y="1564382"/>
            <a:ext cx="10354945" cy="4406900"/>
          </a:xfrm>
          <a:prstGeom prst="rect">
            <a:avLst/>
          </a:prstGeom>
          <a:noFill/>
          <a:ln>
            <a:noFill/>
          </a:ln>
        </p:spPr>
        <p:txBody>
          <a:bodyPr spcFirstLastPara="1" wrap="square" lIns="0" tIns="12050" rIns="0" bIns="0" anchor="t" anchorCtr="0">
            <a:spAutoFit/>
          </a:bodyPr>
          <a:lstStyle/>
          <a:p>
            <a:pPr marL="200025" marR="5080" lvl="0" indent="-187960" algn="just" rtl="0">
              <a:lnSpc>
                <a:spcPct val="120100"/>
              </a:lnSpc>
              <a:spcBef>
                <a:spcPts val="0"/>
              </a:spcBef>
              <a:spcAft>
                <a:spcPts val="0"/>
              </a:spcAft>
              <a:buSzPts val="2400"/>
              <a:buFont typeface="Arial"/>
              <a:buChar char="•"/>
            </a:pPr>
            <a:r>
              <a:rPr lang="en-US" sz="2400" dirty="0">
                <a:latin typeface="Times New Roman"/>
                <a:ea typeface="Times New Roman"/>
                <a:cs typeface="Times New Roman"/>
                <a:sym typeface="Times New Roman"/>
              </a:rPr>
              <a:t>Finding missing persons  is  a  daunting  task,  often  requiring extensive manual review of CCTV footage, which is time-consuming and labor-intensive, especially in busy environments.</a:t>
            </a:r>
            <a:endParaRPr sz="2400" dirty="0">
              <a:latin typeface="Times New Roman"/>
              <a:ea typeface="Times New Roman"/>
              <a:cs typeface="Times New Roman"/>
              <a:sym typeface="Times New Roman"/>
            </a:endParaRPr>
          </a:p>
          <a:p>
            <a:pPr marL="200025" marR="8890" lvl="0" indent="-187960" algn="just" rtl="0">
              <a:lnSpc>
                <a:spcPct val="123400"/>
              </a:lnSpc>
              <a:spcBef>
                <a:spcPts val="960"/>
              </a:spcBef>
              <a:spcAft>
                <a:spcPts val="0"/>
              </a:spcAft>
              <a:buSzPts val="2400"/>
              <a:buFont typeface="Arial"/>
              <a:buChar char="•"/>
            </a:pPr>
            <a:r>
              <a:rPr lang="en-US" sz="2400" dirty="0">
                <a:latin typeface="Times New Roman"/>
                <a:ea typeface="Times New Roman"/>
                <a:cs typeface="Times New Roman"/>
                <a:sym typeface="Times New Roman"/>
              </a:rPr>
              <a:t>Traditional methods, relying on public notifications and manual searches, can be ineffective in urgent situations.</a:t>
            </a:r>
            <a:endParaRPr sz="2400" dirty="0">
              <a:latin typeface="Times New Roman"/>
              <a:ea typeface="Times New Roman"/>
              <a:cs typeface="Times New Roman"/>
              <a:sym typeface="Times New Roman"/>
            </a:endParaRPr>
          </a:p>
          <a:p>
            <a:pPr marL="200025" marR="11430" lvl="0" indent="-187960" algn="just" rtl="0">
              <a:lnSpc>
                <a:spcPct val="120000"/>
              </a:lnSpc>
              <a:spcBef>
                <a:spcPts val="1130"/>
              </a:spcBef>
              <a:spcAft>
                <a:spcPts val="0"/>
              </a:spcAft>
              <a:buSzPts val="2400"/>
              <a:buFont typeface="Arial"/>
              <a:buChar char="•"/>
            </a:pPr>
            <a:r>
              <a:rPr lang="en-US" sz="2400" dirty="0">
                <a:latin typeface="Times New Roman"/>
                <a:ea typeface="Times New Roman"/>
                <a:cs typeface="Times New Roman"/>
                <a:sym typeface="Times New Roman"/>
              </a:rPr>
              <a:t>To address this challenge, the system proposes an automated solution that integrates a web application with AI for facial recognition.</a:t>
            </a:r>
          </a:p>
          <a:p>
            <a:pPr marL="201295" marR="8255" lvl="0" indent="-189230" algn="just" rtl="0">
              <a:lnSpc>
                <a:spcPct val="120100"/>
              </a:lnSpc>
              <a:spcBef>
                <a:spcPts val="1100"/>
              </a:spcBef>
              <a:spcAft>
                <a:spcPts val="0"/>
              </a:spcAft>
              <a:buSzPts val="1800"/>
              <a:buFont typeface="Arial"/>
              <a:buChar char="•"/>
            </a:pPr>
            <a:r>
              <a:rPr lang="en-US" sz="2400" dirty="0">
                <a:latin typeface="Times New Roman"/>
                <a:ea typeface="Times New Roman"/>
                <a:cs typeface="Times New Roman"/>
                <a:sym typeface="Times New Roman"/>
              </a:rPr>
              <a:t>It efficiently analyzes video footage, streamlining the search process and increasing the chances of successfully locating missing individuals.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86"/>
        <p:cNvGrpSpPr/>
        <p:nvPr/>
      </p:nvGrpSpPr>
      <p:grpSpPr>
        <a:xfrm>
          <a:off x="0" y="0"/>
          <a:ext cx="0" cy="0"/>
          <a:chOff x="0" y="0"/>
          <a:chExt cx="0" cy="0"/>
        </a:xfrm>
      </p:grpSpPr>
      <p:sp>
        <p:nvSpPr>
          <p:cNvPr id="87" name="Google Shape;87;p8"/>
          <p:cNvSpPr txBox="1">
            <a:spLocks noGrp="1"/>
          </p:cNvSpPr>
          <p:nvPr>
            <p:ph type="title"/>
          </p:nvPr>
        </p:nvSpPr>
        <p:spPr>
          <a:xfrm>
            <a:off x="769010" y="221945"/>
            <a:ext cx="10229951" cy="1122933"/>
          </a:xfrm>
          <a:prstGeom prst="rect">
            <a:avLst/>
          </a:prstGeom>
          <a:noFill/>
          <a:ln>
            <a:noFill/>
          </a:ln>
        </p:spPr>
        <p:txBody>
          <a:bodyPr spcFirstLastPara="1" wrap="square" lIns="0" tIns="415900" rIns="0" bIns="0" anchor="t" anchorCtr="0">
            <a:spAutoFit/>
          </a:bodyPr>
          <a:lstStyle/>
          <a:p>
            <a:pPr marL="902969" lvl="0" indent="0" algn="ctr" rtl="0">
              <a:lnSpc>
                <a:spcPct val="100000"/>
              </a:lnSpc>
              <a:spcBef>
                <a:spcPts val="0"/>
              </a:spcBef>
              <a:spcAft>
                <a:spcPts val="0"/>
              </a:spcAft>
              <a:buNone/>
            </a:pPr>
            <a:r>
              <a:rPr lang="en-US" sz="4400" dirty="0"/>
              <a:t>PROPOSED SYSTEM</a:t>
            </a:r>
            <a:endParaRPr sz="4400" dirty="0"/>
          </a:p>
        </p:txBody>
      </p:sp>
      <p:sp>
        <p:nvSpPr>
          <p:cNvPr id="88" name="Google Shape;88;p8"/>
          <p:cNvSpPr txBox="1"/>
          <p:nvPr/>
        </p:nvSpPr>
        <p:spPr>
          <a:xfrm>
            <a:off x="960526" y="1706498"/>
            <a:ext cx="10200995" cy="1120163"/>
          </a:xfrm>
          <a:prstGeom prst="rect">
            <a:avLst/>
          </a:prstGeom>
          <a:noFill/>
          <a:ln>
            <a:noFill/>
          </a:ln>
        </p:spPr>
        <p:txBody>
          <a:bodyPr spcFirstLastPara="1" wrap="square" lIns="0" tIns="12050" rIns="0" bIns="0" anchor="t" anchorCtr="0">
            <a:spAutoFit/>
          </a:bodyPr>
          <a:lstStyle/>
          <a:p>
            <a:pPr marL="190500" marR="5080" indent="-178435">
              <a:lnSpc>
                <a:spcPct val="150000"/>
              </a:lnSpc>
              <a:buSzPts val="2400"/>
              <a:buFont typeface="Arial"/>
              <a:buChar char="•"/>
            </a:pPr>
            <a:r>
              <a:rPr lang="en-US" sz="2400" dirty="0">
                <a:latin typeface="Times New Roman"/>
                <a:ea typeface="Times New Roman"/>
                <a:cs typeface="Times New Roman"/>
                <a:sym typeface="Times New Roman"/>
              </a:rPr>
              <a:t>The system is designed to provide a user-friendly portal where details and photos of missing individuals can be submitted.</a:t>
            </a:r>
            <a:endParaRPr sz="2400" dirty="0">
              <a:latin typeface="Times New Roman"/>
              <a:ea typeface="Times New Roman"/>
              <a:cs typeface="Times New Roman"/>
              <a:sym typeface="Times New Roman"/>
            </a:endParaRPr>
          </a:p>
        </p:txBody>
      </p:sp>
      <p:sp>
        <p:nvSpPr>
          <p:cNvPr id="90" name="Google Shape;90;p8"/>
          <p:cNvSpPr txBox="1"/>
          <p:nvPr/>
        </p:nvSpPr>
        <p:spPr>
          <a:xfrm>
            <a:off x="931570" y="2734420"/>
            <a:ext cx="10543216" cy="3439403"/>
          </a:xfrm>
          <a:prstGeom prst="rect">
            <a:avLst/>
          </a:prstGeom>
          <a:noFill/>
          <a:ln>
            <a:noFill/>
          </a:ln>
        </p:spPr>
        <p:txBody>
          <a:bodyPr spcFirstLastPara="1" wrap="square" lIns="0" tIns="12700" rIns="0" bIns="0" anchor="t" anchorCtr="0">
            <a:spAutoFit/>
          </a:bodyPr>
          <a:lstStyle/>
          <a:p>
            <a:pPr marL="248920" marR="793750" indent="-178435" algn="just">
              <a:lnSpc>
                <a:spcPct val="150000"/>
              </a:lnSpc>
              <a:buSzPts val="2400"/>
              <a:buFont typeface="Arial"/>
              <a:buChar char="•"/>
            </a:pPr>
            <a:r>
              <a:rPr lang="en-US" sz="2400" dirty="0">
                <a:latin typeface="Times New Roman"/>
                <a:cs typeface="Times New Roman"/>
              </a:rPr>
              <a:t>The system extracts frames from CCTV videos, which are then analyzed using a deep learning face recognition model.</a:t>
            </a:r>
          </a:p>
          <a:p>
            <a:pPr marL="248920" marR="793750" lvl="0" indent="-178435" algn="just" rtl="0">
              <a:lnSpc>
                <a:spcPct val="150000"/>
              </a:lnSpc>
              <a:spcBef>
                <a:spcPts val="0"/>
              </a:spcBef>
              <a:spcAft>
                <a:spcPts val="0"/>
              </a:spcAft>
              <a:buSzPts val="2400"/>
              <a:buFont typeface="Arial"/>
              <a:buChar char="•"/>
            </a:pPr>
            <a:r>
              <a:rPr lang="en-US" sz="2400" dirty="0">
                <a:latin typeface="Times New Roman"/>
                <a:ea typeface="Times New Roman"/>
                <a:cs typeface="Times New Roman"/>
                <a:sym typeface="Times New Roman"/>
              </a:rPr>
              <a:t>If a match is detected, the system sends notifications to relevant authorities and guardians, ensuring timely and effective responses.</a:t>
            </a:r>
            <a:endParaRPr sz="2400" dirty="0">
              <a:latin typeface="Times New Roman"/>
              <a:ea typeface="Times New Roman"/>
              <a:cs typeface="Times New Roman"/>
              <a:sym typeface="Times New Roman"/>
            </a:endParaRPr>
          </a:p>
          <a:p>
            <a:pPr marL="203200" marR="831214" lvl="0" indent="-191135" algn="just" rtl="0">
              <a:lnSpc>
                <a:spcPct val="150000"/>
              </a:lnSpc>
              <a:spcBef>
                <a:spcPts val="840"/>
              </a:spcBef>
              <a:spcAft>
                <a:spcPts val="0"/>
              </a:spcAft>
              <a:buSzPts val="2400"/>
              <a:buFont typeface="Arial"/>
              <a:buChar char="•"/>
            </a:pPr>
            <a:r>
              <a:rPr lang="en-US" sz="2400" dirty="0">
                <a:latin typeface="Times New Roman"/>
                <a:ea typeface="Times New Roman"/>
                <a:cs typeface="Times New Roman"/>
                <a:sym typeface="Times New Roman"/>
              </a:rPr>
              <a:t>Integration of AI and web technologies enhances the efficiency and accuracy of searches while minimizing manual effort.</a:t>
            </a:r>
            <a:endParaRPr sz="2400" dirty="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94"/>
        <p:cNvGrpSpPr/>
        <p:nvPr/>
      </p:nvGrpSpPr>
      <p:grpSpPr>
        <a:xfrm>
          <a:off x="0" y="0"/>
          <a:ext cx="0" cy="0"/>
          <a:chOff x="0" y="0"/>
          <a:chExt cx="0" cy="0"/>
        </a:xfrm>
      </p:grpSpPr>
      <p:sp>
        <p:nvSpPr>
          <p:cNvPr id="95" name="Google Shape;95;p9"/>
          <p:cNvSpPr txBox="1">
            <a:spLocks noGrp="1"/>
          </p:cNvSpPr>
          <p:nvPr>
            <p:ph type="title"/>
          </p:nvPr>
        </p:nvSpPr>
        <p:spPr>
          <a:xfrm>
            <a:off x="2361082" y="121597"/>
            <a:ext cx="6647233" cy="512445"/>
          </a:xfrm>
          <a:prstGeom prst="rect">
            <a:avLst/>
          </a:prstGeom>
          <a:noFill/>
          <a:ln>
            <a:noFill/>
          </a:ln>
        </p:spPr>
        <p:txBody>
          <a:bodyPr spcFirstLastPara="1" wrap="square" lIns="0" tIns="12050" rIns="0" bIns="0" anchor="t" anchorCtr="0">
            <a:spAutoFit/>
          </a:bodyPr>
          <a:lstStyle/>
          <a:p>
            <a:pPr marL="12700" lvl="0" indent="0" algn="ctr" rtl="0">
              <a:lnSpc>
                <a:spcPct val="100000"/>
              </a:lnSpc>
              <a:spcBef>
                <a:spcPts val="0"/>
              </a:spcBef>
              <a:spcAft>
                <a:spcPts val="0"/>
              </a:spcAft>
              <a:buNone/>
            </a:pPr>
            <a:r>
              <a:rPr lang="en-US" sz="3200" dirty="0"/>
              <a:t>TECHNICAL SPECIFICATIONS</a:t>
            </a:r>
            <a:endParaRPr sz="3200" dirty="0"/>
          </a:p>
        </p:txBody>
      </p:sp>
      <p:graphicFrame>
        <p:nvGraphicFramePr>
          <p:cNvPr id="96" name="Google Shape;96;p9"/>
          <p:cNvGraphicFramePr/>
          <p:nvPr>
            <p:extLst>
              <p:ext uri="{D42A27DB-BD31-4B8C-83A1-F6EECF244321}">
                <p14:modId xmlns:p14="http://schemas.microsoft.com/office/powerpoint/2010/main" val="1779590393"/>
              </p:ext>
            </p:extLst>
          </p:nvPr>
        </p:nvGraphicFramePr>
        <p:xfrm>
          <a:off x="815340" y="866520"/>
          <a:ext cx="10918825" cy="5613660"/>
        </p:xfrm>
        <a:graphic>
          <a:graphicData uri="http://schemas.openxmlformats.org/drawingml/2006/table">
            <a:tbl>
              <a:tblPr firstRow="1" bandRow="1">
                <a:noFill/>
                <a:tableStyleId>{36339A65-334F-4BDC-BE0B-82BCC501CBD1}</a:tableStyleId>
              </a:tblPr>
              <a:tblGrid>
                <a:gridCol w="3832225">
                  <a:extLst>
                    <a:ext uri="{9D8B030D-6E8A-4147-A177-3AD203B41FA5}">
                      <a16:colId xmlns:a16="http://schemas.microsoft.com/office/drawing/2014/main" val="20000"/>
                    </a:ext>
                  </a:extLst>
                </a:gridCol>
                <a:gridCol w="7086600">
                  <a:extLst>
                    <a:ext uri="{9D8B030D-6E8A-4147-A177-3AD203B41FA5}">
                      <a16:colId xmlns:a16="http://schemas.microsoft.com/office/drawing/2014/main" val="20001"/>
                    </a:ext>
                  </a:extLst>
                </a:gridCol>
              </a:tblGrid>
              <a:tr h="401325">
                <a:tc>
                  <a:txBody>
                    <a:bodyPr/>
                    <a:lstStyle/>
                    <a:p>
                      <a:pPr marL="0" marR="0" lvl="0" indent="0" algn="ctr" rtl="0">
                        <a:lnSpc>
                          <a:spcPct val="100000"/>
                        </a:lnSpc>
                        <a:spcBef>
                          <a:spcPts val="0"/>
                        </a:spcBef>
                        <a:spcAft>
                          <a:spcPts val="0"/>
                        </a:spcAft>
                        <a:buNone/>
                      </a:pPr>
                      <a:r>
                        <a:rPr lang="en-US" sz="1550" b="1" u="none" strike="noStrike" cap="none" dirty="0">
                          <a:latin typeface="Times New Roman"/>
                          <a:ea typeface="Times New Roman"/>
                          <a:cs typeface="Times New Roman"/>
                          <a:sym typeface="Times New Roman"/>
                        </a:rPr>
                        <a:t>Module</a:t>
                      </a:r>
                      <a:endParaRPr sz="1550" u="none" strike="noStrike" cap="none" dirty="0">
                        <a:latin typeface="Times New Roman"/>
                        <a:ea typeface="Times New Roman"/>
                        <a:cs typeface="Times New Roman"/>
                        <a:sym typeface="Times New Roman"/>
                      </a:endParaRPr>
                    </a:p>
                  </a:txBody>
                  <a:tcPr marL="0" marR="0" marT="489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75360" marR="0" lvl="0" indent="0" algn="ctr" rtl="0">
                        <a:lnSpc>
                          <a:spcPct val="100000"/>
                        </a:lnSpc>
                        <a:spcBef>
                          <a:spcPts val="0"/>
                        </a:spcBef>
                        <a:spcAft>
                          <a:spcPts val="0"/>
                        </a:spcAft>
                        <a:buNone/>
                      </a:pPr>
                      <a:r>
                        <a:rPr lang="en-US" sz="1700" b="1" u="none" strike="noStrike" cap="none" dirty="0">
                          <a:latin typeface="Times New Roman"/>
                          <a:ea typeface="Times New Roman"/>
                          <a:cs typeface="Times New Roman"/>
                          <a:sym typeface="Times New Roman"/>
                        </a:rPr>
                        <a:t>Specifications</a:t>
                      </a:r>
                      <a:endParaRPr sz="1700" u="none" strike="noStrike" cap="none" dirty="0">
                        <a:latin typeface="Times New Roman"/>
                        <a:ea typeface="Times New Roman"/>
                        <a:cs typeface="Times New Roman"/>
                        <a:sym typeface="Times New Roman"/>
                      </a:endParaRPr>
                    </a:p>
                  </a:txBody>
                  <a:tcPr marL="0" marR="0" marT="311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632075">
                <a:tc>
                  <a:txBody>
                    <a:bodyPr/>
                    <a:lstStyle/>
                    <a:p>
                      <a:pPr marL="8890" marR="0" lvl="0" indent="0" algn="l" rtl="0">
                        <a:lnSpc>
                          <a:spcPct val="100000"/>
                        </a:lnSpc>
                        <a:spcBef>
                          <a:spcPts val="0"/>
                        </a:spcBef>
                        <a:spcAft>
                          <a:spcPts val="0"/>
                        </a:spcAft>
                        <a:buNone/>
                      </a:pPr>
                      <a:r>
                        <a:rPr lang="en-US" sz="1550" b="1" u="none" strike="noStrike" cap="none" dirty="0">
                          <a:latin typeface="Times New Roman"/>
                          <a:ea typeface="Times New Roman"/>
                          <a:cs typeface="Times New Roman"/>
                          <a:sym typeface="Times New Roman"/>
                        </a:rPr>
                        <a:t>1.Frameworks</a:t>
                      </a:r>
                      <a:endParaRPr sz="1550" u="none" strike="noStrike" cap="none" dirty="0">
                        <a:latin typeface="Times New Roman"/>
                        <a:ea typeface="Times New Roman"/>
                        <a:cs typeface="Times New Roman"/>
                        <a:sym typeface="Times New Roman"/>
                      </a:endParaRPr>
                    </a:p>
                  </a:txBody>
                  <a:tcPr marL="0" marR="0" marT="15177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447675" marR="0" lvl="0" indent="0" algn="l" rtl="0">
                        <a:lnSpc>
                          <a:spcPct val="100000"/>
                        </a:lnSpc>
                        <a:spcBef>
                          <a:spcPts val="0"/>
                        </a:spcBef>
                        <a:spcAft>
                          <a:spcPts val="0"/>
                        </a:spcAft>
                        <a:buNone/>
                      </a:pPr>
                      <a:r>
                        <a:rPr lang="en-US" sz="1550" b="1" u="none" strike="noStrike" cap="none" dirty="0">
                          <a:latin typeface="Times New Roman"/>
                          <a:ea typeface="Times New Roman"/>
                          <a:cs typeface="Times New Roman"/>
                          <a:sym typeface="Times New Roman"/>
                        </a:rPr>
                        <a:t>Deep Learning &amp; ML Modules: </a:t>
                      </a:r>
                      <a:r>
                        <a:rPr lang="en-US" sz="1550" u="none" strike="noStrike" cap="none" dirty="0">
                          <a:latin typeface="Times New Roman"/>
                          <a:ea typeface="Times New Roman"/>
                          <a:cs typeface="Times New Roman"/>
                          <a:sym typeface="Times New Roman"/>
                        </a:rPr>
                        <a:t>Dlib, OpenCV, Haar Cascade Classifier</a:t>
                      </a:r>
                      <a:endParaRPr sz="1550" u="none" strike="noStrike" cap="none" dirty="0">
                        <a:latin typeface="Times New Roman"/>
                        <a:ea typeface="Times New Roman"/>
                        <a:cs typeface="Times New Roman"/>
                        <a:sym typeface="Times New Roman"/>
                      </a:endParaRPr>
                    </a:p>
                  </a:txBody>
                  <a:tcPr marL="0" marR="0" marT="16065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412240">
                <a:tc>
                  <a:txBody>
                    <a:bodyPr/>
                    <a:lstStyle/>
                    <a:p>
                      <a:pPr marL="0" marR="0" lvl="0" indent="0" algn="l" rtl="0">
                        <a:lnSpc>
                          <a:spcPct val="100000"/>
                        </a:lnSpc>
                        <a:spcBef>
                          <a:spcPts val="0"/>
                        </a:spcBef>
                        <a:spcAft>
                          <a:spcPts val="0"/>
                        </a:spcAft>
                        <a:buNone/>
                      </a:pPr>
                      <a:endParaRPr sz="1550" u="none" strike="noStrike" cap="none" dirty="0">
                        <a:latin typeface="Times New Roman"/>
                        <a:ea typeface="Times New Roman"/>
                        <a:cs typeface="Times New Roman"/>
                        <a:sym typeface="Times New Roman"/>
                      </a:endParaRPr>
                    </a:p>
                    <a:p>
                      <a:pPr marL="0" marR="0" lvl="0" indent="0" algn="l" rtl="0">
                        <a:lnSpc>
                          <a:spcPct val="100000"/>
                        </a:lnSpc>
                        <a:spcBef>
                          <a:spcPts val="480"/>
                        </a:spcBef>
                        <a:spcAft>
                          <a:spcPts val="0"/>
                        </a:spcAft>
                        <a:buNone/>
                      </a:pPr>
                      <a:endParaRPr sz="1550" u="none" strike="noStrike" cap="none" dirty="0">
                        <a:latin typeface="Times New Roman"/>
                        <a:ea typeface="Times New Roman"/>
                        <a:cs typeface="Times New Roman"/>
                        <a:sym typeface="Times New Roman"/>
                      </a:endParaRPr>
                    </a:p>
                    <a:p>
                      <a:pPr marL="8890" marR="0" lvl="0" indent="0" algn="l" rtl="0">
                        <a:lnSpc>
                          <a:spcPct val="100000"/>
                        </a:lnSpc>
                        <a:spcBef>
                          <a:spcPts val="0"/>
                        </a:spcBef>
                        <a:spcAft>
                          <a:spcPts val="0"/>
                        </a:spcAft>
                        <a:buNone/>
                      </a:pPr>
                      <a:r>
                        <a:rPr lang="en-US" sz="1550" b="1" u="none" strike="noStrike" cap="none" dirty="0">
                          <a:latin typeface="Times New Roman"/>
                          <a:ea typeface="Times New Roman"/>
                          <a:cs typeface="Times New Roman"/>
                          <a:sym typeface="Times New Roman"/>
                        </a:rPr>
                        <a:t>2. Hardware Specifications</a:t>
                      </a:r>
                      <a:endParaRPr sz="1550" u="none" strike="noStrike" cap="none" dirty="0">
                        <a:latin typeface="Times New Roman"/>
                        <a:ea typeface="Times New Roman"/>
                        <a:cs typeface="Times New Roman"/>
                        <a:sym typeface="Times New Roman"/>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447675" marR="0" lvl="0" indent="0" algn="just" rtl="0">
                        <a:lnSpc>
                          <a:spcPct val="100000"/>
                        </a:lnSpc>
                        <a:spcBef>
                          <a:spcPts val="0"/>
                        </a:spcBef>
                        <a:spcAft>
                          <a:spcPts val="0"/>
                        </a:spcAft>
                        <a:buNone/>
                      </a:pPr>
                      <a:r>
                        <a:rPr lang="en-US" sz="1550" b="1" u="none" strike="noStrike" cap="none" dirty="0">
                          <a:latin typeface="Times New Roman"/>
                          <a:ea typeface="Times New Roman"/>
                          <a:cs typeface="Times New Roman"/>
                          <a:sym typeface="Times New Roman"/>
                        </a:rPr>
                        <a:t>Processor: </a:t>
                      </a:r>
                      <a:r>
                        <a:rPr lang="en-US" sz="1550" u="none" strike="noStrike" cap="none" dirty="0">
                          <a:latin typeface="Times New Roman"/>
                          <a:ea typeface="Times New Roman"/>
                          <a:cs typeface="Times New Roman"/>
                          <a:sym typeface="Times New Roman"/>
                        </a:rPr>
                        <a:t>Minimum Intel Core i3, recommended i5 or higher.</a:t>
                      </a:r>
                      <a:endParaRPr sz="1550" u="none" strike="noStrike" cap="none" dirty="0">
                        <a:latin typeface="Times New Roman"/>
                        <a:ea typeface="Times New Roman"/>
                        <a:cs typeface="Times New Roman"/>
                        <a:sym typeface="Times New Roman"/>
                      </a:endParaRPr>
                    </a:p>
                    <a:p>
                      <a:pPr marL="447675" marR="0" lvl="0" indent="0" algn="just" rtl="0">
                        <a:lnSpc>
                          <a:spcPct val="100000"/>
                        </a:lnSpc>
                        <a:spcBef>
                          <a:spcPts val="204"/>
                        </a:spcBef>
                        <a:spcAft>
                          <a:spcPts val="0"/>
                        </a:spcAft>
                        <a:buNone/>
                      </a:pPr>
                      <a:r>
                        <a:rPr lang="en-US" sz="1550" b="1" u="none" strike="noStrike" cap="none" dirty="0">
                          <a:latin typeface="Times New Roman"/>
                          <a:ea typeface="Times New Roman"/>
                          <a:cs typeface="Times New Roman"/>
                          <a:sym typeface="Times New Roman"/>
                        </a:rPr>
                        <a:t>RAM: </a:t>
                      </a:r>
                      <a:r>
                        <a:rPr lang="en-US" sz="1550" u="none" strike="noStrike" cap="none" dirty="0">
                          <a:latin typeface="Times New Roman"/>
                          <a:ea typeface="Times New Roman"/>
                          <a:cs typeface="Times New Roman"/>
                          <a:sym typeface="Times New Roman"/>
                        </a:rPr>
                        <a:t>Minimum 4 GB, recommended 8 GB.</a:t>
                      </a:r>
                      <a:endParaRPr sz="1550" u="none" strike="noStrike" cap="none" dirty="0">
                        <a:latin typeface="Times New Roman"/>
                        <a:ea typeface="Times New Roman"/>
                        <a:cs typeface="Times New Roman"/>
                        <a:sym typeface="Times New Roman"/>
                      </a:endParaRPr>
                    </a:p>
                    <a:p>
                      <a:pPr marL="447675" marR="176530" lvl="0" indent="0" algn="just" rtl="0">
                        <a:lnSpc>
                          <a:spcPct val="99400"/>
                        </a:lnSpc>
                        <a:spcBef>
                          <a:spcPts val="310"/>
                        </a:spcBef>
                        <a:spcAft>
                          <a:spcPts val="0"/>
                        </a:spcAft>
                        <a:buNone/>
                      </a:pPr>
                      <a:r>
                        <a:rPr lang="en-US" sz="1550" b="1" u="none" strike="noStrike" cap="none" dirty="0">
                          <a:latin typeface="Times New Roman"/>
                          <a:ea typeface="Times New Roman"/>
                          <a:cs typeface="Times New Roman"/>
                          <a:sym typeface="Times New Roman"/>
                        </a:rPr>
                        <a:t>Storage: </a:t>
                      </a:r>
                      <a:r>
                        <a:rPr lang="en-US" sz="1550" u="none" strike="noStrike" cap="none" dirty="0">
                          <a:latin typeface="Times New Roman"/>
                          <a:ea typeface="Times New Roman"/>
                          <a:cs typeface="Times New Roman"/>
                          <a:sym typeface="Times New Roman"/>
                        </a:rPr>
                        <a:t>Minimum 256 GB SSD, recommended 512 GB SSD or higher. </a:t>
                      </a:r>
                      <a:r>
                        <a:rPr lang="en-US" sz="1550" b="1" u="none" strike="noStrike" cap="none" dirty="0">
                          <a:latin typeface="Times New Roman"/>
                          <a:ea typeface="Times New Roman"/>
                          <a:cs typeface="Times New Roman"/>
                          <a:sym typeface="Times New Roman"/>
                        </a:rPr>
                        <a:t>GPU </a:t>
                      </a:r>
                      <a:r>
                        <a:rPr lang="en-US" sz="1550" u="none" strike="noStrike" cap="none" dirty="0">
                          <a:latin typeface="Times New Roman"/>
                          <a:ea typeface="Times New Roman"/>
                          <a:cs typeface="Times New Roman"/>
                          <a:sym typeface="Times New Roman"/>
                        </a:rPr>
                        <a:t>(Optional): NVIDIA GPU (CUDA-enabled) for faster training with large datasets.</a:t>
                      </a:r>
                      <a:endParaRPr sz="1550" u="none" strike="noStrike" cap="none" dirty="0">
                        <a:latin typeface="Times New Roman"/>
                        <a:ea typeface="Times New Roman"/>
                        <a:cs typeface="Times New Roman"/>
                        <a:sym typeface="Times New Roman"/>
                      </a:endParaRPr>
                    </a:p>
                  </a:txBody>
                  <a:tcPr marL="0" marR="0" marT="216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391920">
                <a:tc>
                  <a:txBody>
                    <a:bodyPr/>
                    <a:lstStyle/>
                    <a:p>
                      <a:pPr marL="0" marR="0" lvl="0" indent="0" algn="l" rtl="0">
                        <a:lnSpc>
                          <a:spcPct val="100000"/>
                        </a:lnSpc>
                        <a:spcBef>
                          <a:spcPts val="0"/>
                        </a:spcBef>
                        <a:spcAft>
                          <a:spcPts val="0"/>
                        </a:spcAft>
                        <a:buNone/>
                      </a:pPr>
                      <a:endParaRPr sz="1550" u="none" strike="noStrike" cap="none" dirty="0">
                        <a:latin typeface="Times New Roman"/>
                        <a:ea typeface="Times New Roman"/>
                        <a:cs typeface="Times New Roman"/>
                        <a:sym typeface="Times New Roman"/>
                      </a:endParaRPr>
                    </a:p>
                    <a:p>
                      <a:pPr marL="0" marR="0" lvl="0" indent="0" algn="l" rtl="0">
                        <a:lnSpc>
                          <a:spcPct val="100000"/>
                        </a:lnSpc>
                        <a:spcBef>
                          <a:spcPts val="1664"/>
                        </a:spcBef>
                        <a:spcAft>
                          <a:spcPts val="0"/>
                        </a:spcAft>
                        <a:buNone/>
                      </a:pPr>
                      <a:endParaRPr sz="1550" u="none" strike="noStrike" cap="none" dirty="0">
                        <a:latin typeface="Times New Roman"/>
                        <a:ea typeface="Times New Roman"/>
                        <a:cs typeface="Times New Roman"/>
                        <a:sym typeface="Times New Roman"/>
                      </a:endParaRPr>
                    </a:p>
                    <a:p>
                      <a:pPr marL="8890" marR="0" lvl="0" indent="0" algn="l" rtl="0">
                        <a:lnSpc>
                          <a:spcPct val="100000"/>
                        </a:lnSpc>
                        <a:spcBef>
                          <a:spcPts val="0"/>
                        </a:spcBef>
                        <a:spcAft>
                          <a:spcPts val="0"/>
                        </a:spcAft>
                        <a:buNone/>
                      </a:pPr>
                      <a:r>
                        <a:rPr lang="en-US" sz="1550" b="1" u="none" strike="noStrike" cap="none" dirty="0">
                          <a:latin typeface="Times New Roman"/>
                          <a:ea typeface="Times New Roman"/>
                          <a:cs typeface="Times New Roman"/>
                          <a:sym typeface="Times New Roman"/>
                        </a:rPr>
                        <a:t>3. Software specifications</a:t>
                      </a:r>
                      <a:endParaRPr sz="1550" u="none" strike="noStrike" cap="none" dirty="0">
                        <a:latin typeface="Times New Roman"/>
                        <a:ea typeface="Times New Roman"/>
                        <a:cs typeface="Times New Roman"/>
                        <a:sym typeface="Times New Roman"/>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447675" marR="0" lvl="0" indent="0" algn="l" rtl="0">
                        <a:lnSpc>
                          <a:spcPct val="150000"/>
                        </a:lnSpc>
                        <a:spcBef>
                          <a:spcPts val="0"/>
                        </a:spcBef>
                        <a:spcAft>
                          <a:spcPts val="0"/>
                        </a:spcAft>
                        <a:buNone/>
                      </a:pPr>
                      <a:r>
                        <a:rPr lang="en-US" sz="1550" b="1" u="none" strike="noStrike" cap="none" dirty="0">
                          <a:latin typeface="Times New Roman"/>
                          <a:ea typeface="Times New Roman"/>
                          <a:cs typeface="Times New Roman"/>
                          <a:sym typeface="Times New Roman"/>
                        </a:rPr>
                        <a:t>Library: </a:t>
                      </a:r>
                      <a:r>
                        <a:rPr lang="en-US" sz="1550" u="none" strike="noStrike" cap="none" dirty="0">
                          <a:latin typeface="Times New Roman"/>
                          <a:ea typeface="Times New Roman"/>
                          <a:cs typeface="Times New Roman"/>
                          <a:sym typeface="Times New Roman"/>
                        </a:rPr>
                        <a:t>OpenCV for reading and extracting frames from CCTV videos</a:t>
                      </a:r>
                    </a:p>
                    <a:p>
                      <a:pPr marL="447675" marR="0" lvl="0" indent="0" algn="l" rtl="0">
                        <a:lnSpc>
                          <a:spcPct val="150000"/>
                        </a:lnSpc>
                        <a:spcBef>
                          <a:spcPts val="0"/>
                        </a:spcBef>
                        <a:spcAft>
                          <a:spcPts val="0"/>
                        </a:spcAft>
                        <a:buNone/>
                      </a:pPr>
                      <a:r>
                        <a:rPr lang="en-US" sz="1550" b="1" u="none" strike="noStrike" cap="none" dirty="0">
                          <a:latin typeface="Times New Roman"/>
                          <a:cs typeface="Times New Roman"/>
                          <a:sym typeface="Times New Roman"/>
                        </a:rPr>
                        <a:t>Frame Processing: </a:t>
                      </a:r>
                      <a:r>
                        <a:rPr lang="en-US" sz="1550" u="none" strike="noStrike" cap="none" dirty="0">
                          <a:latin typeface="Times New Roman"/>
                          <a:cs typeface="Times New Roman"/>
                          <a:sym typeface="Times New Roman"/>
                        </a:rPr>
                        <a:t>Save frames at intervals for analysis</a:t>
                      </a:r>
                    </a:p>
                    <a:p>
                      <a:pPr marL="447675" marR="0" lvl="0" indent="0" algn="l" rtl="0">
                        <a:lnSpc>
                          <a:spcPct val="150000"/>
                        </a:lnSpc>
                        <a:spcBef>
                          <a:spcPts val="0"/>
                        </a:spcBef>
                        <a:spcAft>
                          <a:spcPts val="0"/>
                        </a:spcAft>
                        <a:buNone/>
                      </a:pPr>
                      <a:r>
                        <a:rPr lang="en-US" sz="1550" b="1" u="none" strike="noStrike" cap="none" dirty="0">
                          <a:latin typeface="Times New Roman"/>
                          <a:cs typeface="Times New Roman"/>
                          <a:sym typeface="Times New Roman"/>
                        </a:rPr>
                        <a:t>Storage: </a:t>
                      </a:r>
                      <a:r>
                        <a:rPr lang="en-US" sz="1550" u="none" strike="noStrike" cap="none" dirty="0">
                          <a:latin typeface="Times New Roman"/>
                          <a:cs typeface="Times New Roman"/>
                          <a:sym typeface="Times New Roman"/>
                        </a:rPr>
                        <a:t>Store frames in structured directories for future processing</a:t>
                      </a:r>
                      <a:endParaRPr sz="1550" u="none" strike="noStrike" cap="none" dirty="0">
                        <a:latin typeface="Times New Roman"/>
                        <a:cs typeface="Times New Roman"/>
                        <a:sym typeface="Times New Roman"/>
                      </a:endParaRPr>
                    </a:p>
                  </a:txBody>
                  <a:tcPr marL="0" marR="0" marT="1149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508000">
                <a:tc>
                  <a:txBody>
                    <a:bodyPr/>
                    <a:lstStyle/>
                    <a:p>
                      <a:pPr marL="8890" marR="0" lvl="0" indent="0" algn="l" rtl="0">
                        <a:lnSpc>
                          <a:spcPct val="100000"/>
                        </a:lnSpc>
                        <a:spcBef>
                          <a:spcPts val="0"/>
                        </a:spcBef>
                        <a:spcAft>
                          <a:spcPts val="0"/>
                        </a:spcAft>
                        <a:buNone/>
                      </a:pPr>
                      <a:r>
                        <a:rPr lang="en-US" sz="1550" b="1" u="none" strike="noStrike" cap="none">
                          <a:latin typeface="Times New Roman"/>
                          <a:ea typeface="Times New Roman"/>
                          <a:cs typeface="Times New Roman"/>
                          <a:sym typeface="Times New Roman"/>
                        </a:rPr>
                        <a:t>4. Frontend technologies</a:t>
                      </a:r>
                      <a:endParaRPr sz="1550" u="none" strike="noStrike" cap="none">
                        <a:latin typeface="Times New Roman"/>
                        <a:ea typeface="Times New Roman"/>
                        <a:cs typeface="Times New Roman"/>
                        <a:sym typeface="Times New Roman"/>
                      </a:endParaRPr>
                    </a:p>
                  </a:txBody>
                  <a:tcPr marL="0" marR="0" marT="1473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447675" marR="0" lvl="0" indent="0" algn="l" rtl="0">
                        <a:lnSpc>
                          <a:spcPct val="100000"/>
                        </a:lnSpc>
                        <a:spcBef>
                          <a:spcPts val="0"/>
                        </a:spcBef>
                        <a:spcAft>
                          <a:spcPts val="0"/>
                        </a:spcAft>
                        <a:buNone/>
                      </a:pPr>
                      <a:r>
                        <a:rPr lang="en-US" sz="1550" u="none" strike="noStrike" cap="none" dirty="0">
                          <a:latin typeface="Times New Roman"/>
                          <a:ea typeface="Times New Roman"/>
                          <a:cs typeface="Times New Roman"/>
                          <a:sym typeface="Times New Roman"/>
                        </a:rPr>
                        <a:t>HTML5, CSS3, JavaScript</a:t>
                      </a:r>
                      <a:endParaRPr sz="1550" u="none" strike="noStrike" cap="none" dirty="0">
                        <a:latin typeface="Times New Roman"/>
                        <a:ea typeface="Times New Roman"/>
                        <a:cs typeface="Times New Roman"/>
                        <a:sym typeface="Times New Roman"/>
                      </a:endParaRPr>
                    </a:p>
                  </a:txBody>
                  <a:tcPr marL="0" marR="0" marT="12320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633725">
                <a:tc>
                  <a:txBody>
                    <a:bodyPr/>
                    <a:lstStyle/>
                    <a:p>
                      <a:pPr marL="8890" marR="0" lvl="0" indent="0" algn="l" rtl="0">
                        <a:lnSpc>
                          <a:spcPct val="100000"/>
                        </a:lnSpc>
                        <a:spcBef>
                          <a:spcPts val="0"/>
                        </a:spcBef>
                        <a:spcAft>
                          <a:spcPts val="0"/>
                        </a:spcAft>
                        <a:buNone/>
                      </a:pPr>
                      <a:r>
                        <a:rPr lang="en-US" sz="1550" b="1" u="none" strike="noStrike" cap="none">
                          <a:latin typeface="Times New Roman"/>
                          <a:ea typeface="Times New Roman"/>
                          <a:cs typeface="Times New Roman"/>
                          <a:sym typeface="Times New Roman"/>
                        </a:rPr>
                        <a:t>5. Backend Technologies</a:t>
                      </a:r>
                      <a:endParaRPr sz="1550" u="none" strike="noStrike" cap="none">
                        <a:latin typeface="Times New Roman"/>
                        <a:ea typeface="Times New Roman"/>
                        <a:cs typeface="Times New Roman"/>
                        <a:sym typeface="Times New Roman"/>
                      </a:endParaRPr>
                    </a:p>
                  </a:txBody>
                  <a:tcPr marL="0" marR="0" marT="2089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63613" marR="0" lvl="0" indent="-515938" algn="l" rtl="0">
                        <a:lnSpc>
                          <a:spcPct val="100000"/>
                        </a:lnSpc>
                        <a:spcBef>
                          <a:spcPts val="0"/>
                        </a:spcBef>
                        <a:spcAft>
                          <a:spcPts val="0"/>
                        </a:spcAft>
                        <a:buNone/>
                      </a:pPr>
                      <a:r>
                        <a:rPr lang="en-US" sz="1550" u="none" strike="noStrike" cap="none" dirty="0">
                          <a:latin typeface="Times New Roman"/>
                          <a:ea typeface="Times New Roman"/>
                          <a:cs typeface="Times New Roman"/>
                          <a:sym typeface="Times New Roman"/>
                        </a:rPr>
                        <a:t>Python Flask</a:t>
                      </a:r>
                      <a:endParaRPr sz="1550" u="none" strike="noStrike" cap="none" dirty="0">
                        <a:latin typeface="Times New Roman"/>
                        <a:ea typeface="Times New Roman"/>
                        <a:cs typeface="Times New Roman"/>
                        <a:sym typeface="Times New Roman"/>
                      </a:endParaRPr>
                    </a:p>
                  </a:txBody>
                  <a:tcPr marL="0" marR="0" marT="18415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634375">
                <a:tc>
                  <a:txBody>
                    <a:bodyPr/>
                    <a:lstStyle/>
                    <a:p>
                      <a:pPr marL="8890" marR="0" lvl="0" indent="0" algn="l" rtl="0">
                        <a:lnSpc>
                          <a:spcPct val="100000"/>
                        </a:lnSpc>
                        <a:spcBef>
                          <a:spcPts val="0"/>
                        </a:spcBef>
                        <a:spcAft>
                          <a:spcPts val="0"/>
                        </a:spcAft>
                        <a:buNone/>
                      </a:pPr>
                      <a:r>
                        <a:rPr lang="en-US" sz="1550" b="1" u="none" strike="noStrike" cap="none" dirty="0">
                          <a:latin typeface="Times New Roman"/>
                          <a:ea typeface="Times New Roman"/>
                          <a:cs typeface="Times New Roman"/>
                          <a:sym typeface="Times New Roman"/>
                        </a:rPr>
                        <a:t>6. IDE</a:t>
                      </a:r>
                      <a:endParaRPr sz="1550" u="none" strike="noStrike" cap="none" dirty="0">
                        <a:latin typeface="Times New Roman"/>
                        <a:ea typeface="Times New Roman"/>
                        <a:cs typeface="Times New Roman"/>
                        <a:sym typeface="Times New Roman"/>
                      </a:endParaRPr>
                    </a:p>
                  </a:txBody>
                  <a:tcPr marL="0" marR="0" marT="2108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63613" marR="0" lvl="0" indent="-515938" algn="l" rtl="0">
                        <a:lnSpc>
                          <a:spcPct val="100000"/>
                        </a:lnSpc>
                        <a:spcBef>
                          <a:spcPts val="0"/>
                        </a:spcBef>
                        <a:spcAft>
                          <a:spcPts val="0"/>
                        </a:spcAft>
                        <a:buNone/>
                      </a:pPr>
                      <a:r>
                        <a:rPr lang="en-US" sz="1550" u="none" strike="noStrike" cap="none" dirty="0">
                          <a:latin typeface="Times New Roman"/>
                          <a:ea typeface="Times New Roman"/>
                          <a:cs typeface="Times New Roman"/>
                          <a:sym typeface="Times New Roman"/>
                        </a:rPr>
                        <a:t>Thonny</a:t>
                      </a:r>
                      <a:endParaRPr sz="1550" u="none" strike="noStrike" cap="none" dirty="0">
                        <a:latin typeface="Times New Roman"/>
                        <a:ea typeface="Times New Roman"/>
                        <a:cs typeface="Times New Roman"/>
                        <a:sym typeface="Times New Roman"/>
                      </a:endParaRPr>
                    </a:p>
                  </a:txBody>
                  <a:tcPr marL="0" marR="0" marT="185425"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1" name="Google Shape;101;p10"/>
          <p:cNvSpPr txBox="1">
            <a:spLocks noGrp="1"/>
          </p:cNvSpPr>
          <p:nvPr>
            <p:ph type="title"/>
          </p:nvPr>
        </p:nvSpPr>
        <p:spPr>
          <a:xfrm>
            <a:off x="931570" y="201625"/>
            <a:ext cx="10229951" cy="1122933"/>
          </a:xfrm>
          <a:prstGeom prst="rect">
            <a:avLst/>
          </a:prstGeom>
          <a:noFill/>
          <a:ln>
            <a:noFill/>
          </a:ln>
        </p:spPr>
        <p:txBody>
          <a:bodyPr spcFirstLastPara="1" wrap="square" lIns="0" tIns="415900" rIns="0" bIns="0" anchor="t" anchorCtr="0">
            <a:spAutoFit/>
          </a:bodyPr>
          <a:lstStyle/>
          <a:p>
            <a:pPr marL="220345" lvl="0" indent="0" algn="ctr" rtl="0">
              <a:lnSpc>
                <a:spcPct val="100000"/>
              </a:lnSpc>
              <a:spcBef>
                <a:spcPts val="0"/>
              </a:spcBef>
              <a:spcAft>
                <a:spcPts val="0"/>
              </a:spcAft>
              <a:buNone/>
            </a:pPr>
            <a:r>
              <a:rPr lang="en-US" sz="4400" dirty="0"/>
              <a:t>METHODOLOGY</a:t>
            </a:r>
            <a:endParaRPr sz="4400" dirty="0"/>
          </a:p>
        </p:txBody>
      </p:sp>
      <p:sp>
        <p:nvSpPr>
          <p:cNvPr id="102" name="Google Shape;102;p10"/>
          <p:cNvSpPr txBox="1"/>
          <p:nvPr/>
        </p:nvSpPr>
        <p:spPr>
          <a:xfrm>
            <a:off x="902004" y="1718623"/>
            <a:ext cx="10459085" cy="3855543"/>
          </a:xfrm>
          <a:prstGeom prst="rect">
            <a:avLst/>
          </a:prstGeom>
          <a:noFill/>
          <a:ln>
            <a:noFill/>
          </a:ln>
        </p:spPr>
        <p:txBody>
          <a:bodyPr spcFirstLastPara="1" wrap="square" lIns="0" tIns="53975" rIns="0" bIns="0" anchor="t" anchorCtr="0">
            <a:spAutoFit/>
          </a:bodyPr>
          <a:lstStyle/>
          <a:p>
            <a:pPr marL="12700" lvl="0" indent="0" algn="just" rtl="0">
              <a:lnSpc>
                <a:spcPct val="150000"/>
              </a:lnSpc>
              <a:spcBef>
                <a:spcPts val="869"/>
              </a:spcBef>
              <a:spcAft>
                <a:spcPts val="0"/>
              </a:spcAft>
              <a:buNone/>
            </a:pPr>
            <a:r>
              <a:rPr lang="en-US" sz="2200" b="1" dirty="0">
                <a:latin typeface="Times New Roman"/>
                <a:ea typeface="Times New Roman"/>
                <a:cs typeface="Times New Roman"/>
                <a:sym typeface="Times New Roman"/>
              </a:rPr>
              <a:t>Module 1: Web Portal Development </a:t>
            </a:r>
            <a:r>
              <a:rPr lang="en-US" sz="2000" dirty="0">
                <a:latin typeface="Times New Roman"/>
                <a:ea typeface="Times New Roman"/>
                <a:cs typeface="Times New Roman"/>
                <a:sym typeface="Times New Roman"/>
              </a:rPr>
              <a:t>- Create a web portal using Python Flask for users to enter missing person details and photos.</a:t>
            </a:r>
          </a:p>
          <a:p>
            <a:pPr marL="12700" lvl="0" indent="0" algn="just" rtl="0">
              <a:lnSpc>
                <a:spcPct val="150000"/>
              </a:lnSpc>
              <a:spcBef>
                <a:spcPts val="840"/>
              </a:spcBef>
              <a:spcAft>
                <a:spcPts val="0"/>
              </a:spcAft>
              <a:buNone/>
            </a:pPr>
            <a:r>
              <a:rPr lang="en-US" sz="2200" b="1" dirty="0">
                <a:latin typeface="Times New Roman"/>
                <a:ea typeface="Times New Roman"/>
                <a:cs typeface="Times New Roman"/>
                <a:sym typeface="Times New Roman"/>
              </a:rPr>
              <a:t>Module 2: Video Frame Extraction </a:t>
            </a:r>
            <a:r>
              <a:rPr lang="en-US" sz="2000" dirty="0">
                <a:latin typeface="Times New Roman"/>
                <a:ea typeface="Times New Roman"/>
                <a:cs typeface="Times New Roman"/>
                <a:sym typeface="Times New Roman"/>
              </a:rPr>
              <a:t>- Convert CCTV videos into frames for detailed analysis.</a:t>
            </a:r>
            <a:endParaRPr lang="en-US" sz="2000" b="1" dirty="0">
              <a:latin typeface="Times New Roman"/>
              <a:ea typeface="Times New Roman"/>
              <a:cs typeface="Times New Roman"/>
              <a:sym typeface="Times New Roman"/>
            </a:endParaRPr>
          </a:p>
          <a:p>
            <a:pPr marL="12700" lvl="0" indent="0" algn="just" rtl="0">
              <a:lnSpc>
                <a:spcPct val="150000"/>
              </a:lnSpc>
              <a:spcBef>
                <a:spcPts val="0"/>
              </a:spcBef>
              <a:spcAft>
                <a:spcPts val="0"/>
              </a:spcAft>
              <a:buNone/>
            </a:pPr>
            <a:r>
              <a:rPr lang="en-US" sz="2200" b="1" dirty="0">
                <a:latin typeface="Times New Roman"/>
                <a:ea typeface="Times New Roman"/>
                <a:cs typeface="Times New Roman"/>
                <a:sym typeface="Times New Roman"/>
              </a:rPr>
              <a:t>Module 3: Deep Learning Model Implementation</a:t>
            </a:r>
            <a:r>
              <a:rPr lang="en-US" sz="2200" dirty="0">
                <a:latin typeface="Times New Roman"/>
                <a:ea typeface="Times New Roman"/>
                <a:cs typeface="Times New Roman"/>
                <a:sym typeface="Times New Roman"/>
              </a:rPr>
              <a:t>- </a:t>
            </a:r>
            <a:r>
              <a:rPr lang="en-US" sz="2000" dirty="0">
                <a:latin typeface="Times New Roman"/>
                <a:ea typeface="Times New Roman"/>
                <a:cs typeface="Times New Roman"/>
                <a:sym typeface="Times New Roman"/>
              </a:rPr>
              <a:t>Apply a face recognition deep learning model to the extracted frames.</a:t>
            </a:r>
            <a:endParaRPr sz="2000" dirty="0">
              <a:latin typeface="Times New Roman"/>
              <a:ea typeface="Times New Roman"/>
              <a:cs typeface="Times New Roman"/>
              <a:sym typeface="Times New Roman"/>
            </a:endParaRPr>
          </a:p>
          <a:p>
            <a:pPr marL="12700" marR="5080" lvl="0" indent="0" algn="just" rtl="0">
              <a:lnSpc>
                <a:spcPct val="150000"/>
              </a:lnSpc>
              <a:spcBef>
                <a:spcPts val="955"/>
              </a:spcBef>
              <a:spcAft>
                <a:spcPts val="0"/>
              </a:spcAft>
              <a:buNone/>
            </a:pPr>
            <a:r>
              <a:rPr lang="en-US" sz="2200" b="1" dirty="0">
                <a:latin typeface="Times New Roman"/>
                <a:ea typeface="Times New Roman"/>
                <a:cs typeface="Times New Roman"/>
                <a:sym typeface="Times New Roman"/>
              </a:rPr>
              <a:t>Module 4: Notification System </a:t>
            </a:r>
            <a:r>
              <a:rPr lang="en-US" sz="2000" dirty="0">
                <a:latin typeface="Times New Roman"/>
                <a:ea typeface="Times New Roman"/>
                <a:cs typeface="Times New Roman"/>
                <a:sym typeface="Times New Roman"/>
              </a:rPr>
              <a:t>- Implement a system to notify authorities and guardians upon detecting a match.</a:t>
            </a:r>
            <a:endParaRPr sz="2000" dirty="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A3732-E03B-5D0D-9DA2-3CE7E7D530DE}"/>
              </a:ext>
            </a:extLst>
          </p:cNvPr>
          <p:cNvSpPr>
            <a:spLocks noGrp="1"/>
          </p:cNvSpPr>
          <p:nvPr>
            <p:ph type="title"/>
          </p:nvPr>
        </p:nvSpPr>
        <p:spPr>
          <a:xfrm>
            <a:off x="981023" y="91440"/>
            <a:ext cx="10229951" cy="430887"/>
          </a:xfrm>
        </p:spPr>
        <p:txBody>
          <a:bodyPr/>
          <a:lstStyle/>
          <a:p>
            <a:pPr algn="ctr"/>
            <a:r>
              <a:rPr lang="en-US" sz="2800" dirty="0"/>
              <a:t>BLOCK DIAGRAM</a:t>
            </a:r>
            <a:endParaRPr lang="en-IN" sz="2800" dirty="0"/>
          </a:p>
        </p:txBody>
      </p:sp>
      <p:pic>
        <p:nvPicPr>
          <p:cNvPr id="7" name="Picture 6">
            <a:extLst>
              <a:ext uri="{FF2B5EF4-FFF2-40B4-BE49-F238E27FC236}">
                <a16:creationId xmlns:a16="http://schemas.microsoft.com/office/drawing/2014/main" id="{1C909CEE-9F85-7689-9CF9-ED60A36DE875}"/>
              </a:ext>
            </a:extLst>
          </p:cNvPr>
          <p:cNvPicPr>
            <a:picLocks noChangeAspect="1"/>
          </p:cNvPicPr>
          <p:nvPr/>
        </p:nvPicPr>
        <p:blipFill>
          <a:blip r:embed="rId2"/>
          <a:srcRect b="517"/>
          <a:stretch/>
        </p:blipFill>
        <p:spPr>
          <a:xfrm>
            <a:off x="1188720" y="711200"/>
            <a:ext cx="10109200" cy="5862320"/>
          </a:xfrm>
          <a:prstGeom prst="rect">
            <a:avLst/>
          </a:prstGeom>
        </p:spPr>
      </p:pic>
    </p:spTree>
    <p:extLst>
      <p:ext uri="{BB962C8B-B14F-4D97-AF65-F5344CB8AC3E}">
        <p14:creationId xmlns:p14="http://schemas.microsoft.com/office/powerpoint/2010/main" val="1815650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9"/>
          <p:cNvSpPr txBox="1">
            <a:spLocks noGrp="1"/>
          </p:cNvSpPr>
          <p:nvPr>
            <p:ph type="title"/>
          </p:nvPr>
        </p:nvSpPr>
        <p:spPr>
          <a:xfrm>
            <a:off x="1103108" y="181305"/>
            <a:ext cx="10229951" cy="55399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3600" dirty="0"/>
              <a:t>             Module 1: </a:t>
            </a:r>
            <a:r>
              <a:rPr lang="en-US" sz="3600" b="1" dirty="0">
                <a:latin typeface="Times New Roman"/>
                <a:ea typeface="Times New Roman"/>
                <a:cs typeface="Times New Roman"/>
                <a:sym typeface="Times New Roman"/>
              </a:rPr>
              <a:t> </a:t>
            </a:r>
            <a:r>
              <a:rPr lang="en-US" sz="3600" dirty="0">
                <a:latin typeface="Times New Roman"/>
                <a:ea typeface="Times New Roman"/>
                <a:cs typeface="Times New Roman"/>
                <a:sym typeface="Times New Roman"/>
              </a:rPr>
              <a:t>Web Portal Development </a:t>
            </a:r>
            <a:endParaRPr dirty="0"/>
          </a:p>
        </p:txBody>
      </p:sp>
      <p:sp>
        <p:nvSpPr>
          <p:cNvPr id="159" name="Google Shape;159;p19"/>
          <p:cNvSpPr txBox="1">
            <a:spLocks noGrp="1"/>
          </p:cNvSpPr>
          <p:nvPr>
            <p:ph type="body" idx="1"/>
          </p:nvPr>
        </p:nvSpPr>
        <p:spPr>
          <a:xfrm>
            <a:off x="931568" y="1070583"/>
            <a:ext cx="10573029" cy="4893647"/>
          </a:xfrm>
          <a:prstGeom prst="rect">
            <a:avLst/>
          </a:prstGeom>
          <a:noFill/>
          <a:ln>
            <a:noFill/>
          </a:ln>
        </p:spPr>
        <p:txBody>
          <a:bodyPr spcFirstLastPara="1" wrap="square" lIns="0" tIns="0" rIns="0" bIns="0" anchor="t" anchorCtr="0">
            <a:spAutoFit/>
          </a:bodyPr>
          <a:lstStyle/>
          <a:p>
            <a:pPr marL="342900" lvl="0" indent="-342900" algn="just" rtl="0">
              <a:spcBef>
                <a:spcPts val="600"/>
              </a:spcBef>
              <a:spcAft>
                <a:spcPts val="0"/>
              </a:spcAft>
              <a:buClr>
                <a:srgbClr val="202020"/>
              </a:buClr>
              <a:buSzPts val="2400"/>
              <a:buFont typeface="Arial"/>
              <a:buChar char="•"/>
            </a:pPr>
            <a:r>
              <a:rPr lang="en-US" dirty="0"/>
              <a:t>The implementation creates a user-friendly web interface to collect data about missing individuals. </a:t>
            </a:r>
          </a:p>
          <a:p>
            <a:pPr marL="342900" lvl="0" indent="-342900" algn="just" rtl="0">
              <a:spcBef>
                <a:spcPts val="600"/>
              </a:spcBef>
              <a:spcAft>
                <a:spcPts val="0"/>
              </a:spcAft>
              <a:buClr>
                <a:srgbClr val="202020"/>
              </a:buClr>
              <a:buSzPts val="2400"/>
              <a:buFont typeface="Arial"/>
              <a:buChar char="•"/>
            </a:pPr>
            <a:r>
              <a:rPr lang="en-US" dirty="0"/>
              <a:t>The portal leverages </a:t>
            </a:r>
            <a:r>
              <a:rPr lang="en-US" b="1" dirty="0"/>
              <a:t>HTML and CSS</a:t>
            </a:r>
            <a:r>
              <a:rPr lang="en-US" dirty="0"/>
              <a:t> for structure and styling, ensuring accessibility and responsiveness. </a:t>
            </a:r>
          </a:p>
          <a:p>
            <a:pPr marL="342900" lvl="0" indent="-342900" algn="just" rtl="0">
              <a:spcBef>
                <a:spcPts val="600"/>
              </a:spcBef>
              <a:spcAft>
                <a:spcPts val="0"/>
              </a:spcAft>
              <a:buClr>
                <a:srgbClr val="202020"/>
              </a:buClr>
              <a:buSzPts val="2400"/>
              <a:buFont typeface="Arial"/>
              <a:buChar char="•"/>
            </a:pPr>
            <a:r>
              <a:rPr lang="en-US" dirty="0"/>
              <a:t>In this portal, all the details of the missing person are to be filled by the applicant along with their recent photograph.</a:t>
            </a:r>
          </a:p>
          <a:p>
            <a:pPr marL="342900" lvl="0" indent="-342900" algn="just" rtl="0">
              <a:spcBef>
                <a:spcPts val="600"/>
              </a:spcBef>
              <a:spcAft>
                <a:spcPts val="0"/>
              </a:spcAft>
              <a:buClr>
                <a:srgbClr val="202020"/>
              </a:buClr>
              <a:buSzPts val="2400"/>
              <a:buFont typeface="Arial"/>
              <a:buChar char="•"/>
            </a:pPr>
            <a:r>
              <a:rPr lang="en-US" dirty="0"/>
              <a:t>The photograph needs to be in </a:t>
            </a:r>
            <a:r>
              <a:rPr lang="en-US" b="1" dirty="0"/>
              <a:t>colored format </a:t>
            </a:r>
            <a:r>
              <a:rPr lang="en-US" dirty="0"/>
              <a:t>rather than black and white to ensure higher accuracy.</a:t>
            </a:r>
          </a:p>
          <a:p>
            <a:pPr marL="342900" lvl="0" indent="-342900" algn="just" rtl="0">
              <a:spcBef>
                <a:spcPts val="600"/>
              </a:spcBef>
              <a:spcAft>
                <a:spcPts val="0"/>
              </a:spcAft>
              <a:buClr>
                <a:srgbClr val="202020"/>
              </a:buClr>
              <a:buSzPts val="2400"/>
              <a:buFont typeface="Arial"/>
              <a:buChar char="•"/>
            </a:pPr>
            <a:r>
              <a:rPr lang="en-US" b="1" dirty="0"/>
              <a:t>Validation and forms </a:t>
            </a:r>
            <a:r>
              <a:rPr lang="en-US" dirty="0"/>
              <a:t>are used to ensure no information remains incomplete during submission.</a:t>
            </a:r>
          </a:p>
          <a:p>
            <a:pPr marL="342900" lvl="0" indent="-342900" algn="just" rtl="0">
              <a:spcBef>
                <a:spcPts val="600"/>
              </a:spcBef>
              <a:spcAft>
                <a:spcPts val="0"/>
              </a:spcAft>
              <a:buClr>
                <a:srgbClr val="202020"/>
              </a:buClr>
              <a:buSzPts val="2400"/>
              <a:buFont typeface="Arial"/>
              <a:buChar char="•"/>
            </a:pPr>
            <a:r>
              <a:rPr lang="en-US" dirty="0"/>
              <a:t>Therefore, this portal helps the user and the officials to easily navigate and also enhances the search efficiency.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4"/>
          <p:cNvSpPr txBox="1">
            <a:spLocks noGrp="1"/>
          </p:cNvSpPr>
          <p:nvPr>
            <p:ph type="title"/>
          </p:nvPr>
        </p:nvSpPr>
        <p:spPr>
          <a:xfrm>
            <a:off x="931570" y="201625"/>
            <a:ext cx="10229951" cy="55399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a:t>                 Output for </a:t>
            </a:r>
            <a:r>
              <a:rPr lang="en-US" sz="3600">
                <a:latin typeface="Times New Roman"/>
                <a:ea typeface="Times New Roman"/>
                <a:cs typeface="Times New Roman"/>
                <a:sym typeface="Times New Roman"/>
              </a:rPr>
              <a:t>Web Portal Development</a:t>
            </a:r>
            <a:r>
              <a:rPr lang="en-US"/>
              <a:t> </a:t>
            </a:r>
            <a:endParaRPr/>
          </a:p>
        </p:txBody>
      </p:sp>
      <p:pic>
        <p:nvPicPr>
          <p:cNvPr id="3" name="Picture 2">
            <a:extLst>
              <a:ext uri="{FF2B5EF4-FFF2-40B4-BE49-F238E27FC236}">
                <a16:creationId xmlns:a16="http://schemas.microsoft.com/office/drawing/2014/main" id="{0901FA83-D9A4-2B4A-D48F-6B9EF89635D4}"/>
              </a:ext>
            </a:extLst>
          </p:cNvPr>
          <p:cNvPicPr>
            <a:picLocks noChangeAspect="1"/>
          </p:cNvPicPr>
          <p:nvPr/>
        </p:nvPicPr>
        <p:blipFill>
          <a:blip r:embed="rId3"/>
          <a:stretch>
            <a:fillRect/>
          </a:stretch>
        </p:blipFill>
        <p:spPr>
          <a:xfrm>
            <a:off x="1216058" y="1065230"/>
            <a:ext cx="9747315" cy="532614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32"/>
        <p:cNvGrpSpPr/>
        <p:nvPr/>
      </p:nvGrpSpPr>
      <p:grpSpPr>
        <a:xfrm>
          <a:off x="0" y="0"/>
          <a:ext cx="0" cy="0"/>
          <a:chOff x="0" y="0"/>
          <a:chExt cx="0" cy="0"/>
        </a:xfrm>
      </p:grpSpPr>
      <p:sp>
        <p:nvSpPr>
          <p:cNvPr id="133" name="Google Shape;133;p15"/>
          <p:cNvSpPr txBox="1">
            <a:spLocks noGrp="1"/>
          </p:cNvSpPr>
          <p:nvPr>
            <p:ph type="title"/>
          </p:nvPr>
        </p:nvSpPr>
        <p:spPr>
          <a:xfrm>
            <a:off x="2362200" y="533400"/>
            <a:ext cx="7117080" cy="62928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3950" dirty="0"/>
              <a:t>Module 2: Video Frame Extraction</a:t>
            </a:r>
            <a:endParaRPr sz="3950" dirty="0"/>
          </a:p>
        </p:txBody>
      </p:sp>
      <p:sp>
        <p:nvSpPr>
          <p:cNvPr id="134" name="Google Shape;134;p15"/>
          <p:cNvSpPr txBox="1">
            <a:spLocks noGrp="1"/>
          </p:cNvSpPr>
          <p:nvPr>
            <p:ph type="body" idx="1"/>
          </p:nvPr>
        </p:nvSpPr>
        <p:spPr>
          <a:xfrm>
            <a:off x="687400" y="1295400"/>
            <a:ext cx="10817199" cy="5177053"/>
          </a:xfrm>
          <a:prstGeom prst="rect">
            <a:avLst/>
          </a:prstGeom>
          <a:noFill/>
          <a:ln>
            <a:noFill/>
          </a:ln>
        </p:spPr>
        <p:txBody>
          <a:bodyPr spcFirstLastPara="1" wrap="square" lIns="0" tIns="189225" rIns="0" bIns="0" anchor="t" anchorCtr="0">
            <a:spAutoFit/>
          </a:bodyPr>
          <a:lstStyle/>
          <a:p>
            <a:pPr marL="299720" lvl="0" indent="-286385" algn="just" rtl="0">
              <a:lnSpc>
                <a:spcPct val="100000"/>
              </a:lnSpc>
              <a:spcBef>
                <a:spcPts val="0"/>
              </a:spcBef>
              <a:spcAft>
                <a:spcPts val="0"/>
              </a:spcAft>
              <a:buClr>
                <a:srgbClr val="202020"/>
              </a:buClr>
              <a:buSzPts val="2400"/>
              <a:buFont typeface="Arial"/>
              <a:buChar char="•"/>
            </a:pPr>
            <a:r>
              <a:rPr lang="en-US" dirty="0"/>
              <a:t>From the videos facial features are extracted where patterns are learned and these frames are saved as images.</a:t>
            </a:r>
            <a:endParaRPr dirty="0"/>
          </a:p>
          <a:p>
            <a:pPr marL="299720" lvl="0" indent="-286385" algn="just" rtl="0">
              <a:lnSpc>
                <a:spcPct val="100000"/>
              </a:lnSpc>
              <a:spcBef>
                <a:spcPts val="1395"/>
              </a:spcBef>
              <a:spcAft>
                <a:spcPts val="0"/>
              </a:spcAft>
              <a:buClr>
                <a:srgbClr val="202020"/>
              </a:buClr>
              <a:buSzPts val="2400"/>
              <a:buFont typeface="Arial"/>
              <a:buChar char="•"/>
            </a:pPr>
            <a:r>
              <a:rPr lang="en-US" dirty="0"/>
              <a:t>OpenCV is used to break down the video into individual frames(for one second 72 frames are extracted) and save them locally.</a:t>
            </a:r>
            <a:endParaRPr dirty="0"/>
          </a:p>
          <a:p>
            <a:pPr marL="299720" lvl="0" indent="-286385" algn="just" rtl="0">
              <a:lnSpc>
                <a:spcPct val="100000"/>
              </a:lnSpc>
              <a:spcBef>
                <a:spcPts val="1395"/>
              </a:spcBef>
              <a:spcAft>
                <a:spcPts val="0"/>
              </a:spcAft>
              <a:buClr>
                <a:srgbClr val="202020"/>
              </a:buClr>
              <a:buSzPts val="2400"/>
              <a:buFont typeface="Arial"/>
              <a:buChar char="•"/>
            </a:pPr>
            <a:r>
              <a:rPr lang="en-US" dirty="0"/>
              <a:t>These frames are resized and converted to RGB for facial detection.</a:t>
            </a:r>
            <a:endParaRPr dirty="0"/>
          </a:p>
          <a:p>
            <a:pPr marL="299720" lvl="0" indent="-286385" algn="just" rtl="0">
              <a:lnSpc>
                <a:spcPct val="100000"/>
              </a:lnSpc>
              <a:spcBef>
                <a:spcPts val="1395"/>
              </a:spcBef>
              <a:spcAft>
                <a:spcPts val="0"/>
              </a:spcAft>
              <a:buClr>
                <a:srgbClr val="202020"/>
              </a:buClr>
              <a:buSzPts val="2400"/>
              <a:buFont typeface="Arial"/>
              <a:buChar char="•"/>
            </a:pPr>
            <a:r>
              <a:rPr lang="en-US" dirty="0"/>
              <a:t>Convolutional layers break the images pixel by pixel based on the image resolution and patterns learned in each layers and stored.</a:t>
            </a:r>
            <a:endParaRPr dirty="0"/>
          </a:p>
          <a:p>
            <a:pPr marL="299720" marR="474980" lvl="0" indent="-287020" algn="just" rtl="0">
              <a:lnSpc>
                <a:spcPct val="100000"/>
              </a:lnSpc>
              <a:spcBef>
                <a:spcPts val="1490"/>
              </a:spcBef>
              <a:spcAft>
                <a:spcPts val="0"/>
              </a:spcAft>
              <a:buClr>
                <a:srgbClr val="202020"/>
              </a:buClr>
              <a:buSzPts val="2400"/>
              <a:buFont typeface="Arial"/>
              <a:buChar char="•"/>
            </a:pPr>
            <a:r>
              <a:rPr lang="en-US" dirty="0"/>
              <a:t>For face identification, Haar Cascade Classifier is used, which identifies faces by from various objects present in the videos.</a:t>
            </a:r>
          </a:p>
          <a:p>
            <a:pPr marL="299720" marR="474980" lvl="0" indent="-287020" algn="just" rtl="0">
              <a:lnSpc>
                <a:spcPct val="100000"/>
              </a:lnSpc>
              <a:spcBef>
                <a:spcPts val="1490"/>
              </a:spcBef>
              <a:spcAft>
                <a:spcPts val="0"/>
              </a:spcAft>
              <a:buClr>
                <a:srgbClr val="202020"/>
              </a:buClr>
              <a:buSzPts val="2400"/>
              <a:buFont typeface="Arial"/>
              <a:buChar char="•"/>
            </a:pPr>
            <a:r>
              <a:rPr lang="en-US" dirty="0" err="1"/>
              <a:t>Haar</a:t>
            </a:r>
            <a:r>
              <a:rPr lang="en-US" dirty="0"/>
              <a:t> Cascade classifier identifies human faces and these faces are dragged ,values are separated and stored.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16"/>
          <p:cNvSpPr txBox="1"/>
          <p:nvPr/>
        </p:nvSpPr>
        <p:spPr>
          <a:xfrm>
            <a:off x="993444" y="2045665"/>
            <a:ext cx="10500466" cy="3716402"/>
          </a:xfrm>
          <a:prstGeom prst="rect">
            <a:avLst/>
          </a:prstGeom>
          <a:noFill/>
          <a:ln>
            <a:noFill/>
          </a:ln>
        </p:spPr>
        <p:txBody>
          <a:bodyPr spcFirstLastPara="1" wrap="square" lIns="0" tIns="12700" rIns="0" bIns="0" anchor="t" anchorCtr="0">
            <a:spAutoFit/>
          </a:bodyPr>
          <a:lstStyle/>
          <a:p>
            <a:pPr marL="299085" lvl="0" indent="-286385" algn="just" rtl="0">
              <a:spcBef>
                <a:spcPts val="0"/>
              </a:spcBef>
              <a:spcAft>
                <a:spcPts val="0"/>
              </a:spcAft>
              <a:buClr>
                <a:srgbClr val="202020"/>
              </a:buClr>
              <a:buSzPts val="2400"/>
              <a:buFont typeface="Arial"/>
              <a:buChar char="•"/>
            </a:pPr>
            <a:r>
              <a:rPr lang="en-US" sz="2400" dirty="0">
                <a:solidFill>
                  <a:srgbClr val="202020"/>
                </a:solidFill>
                <a:latin typeface="Times New Roman"/>
                <a:ea typeface="Times New Roman"/>
                <a:cs typeface="Times New Roman"/>
                <a:sym typeface="Times New Roman"/>
              </a:rPr>
              <a:t>Once a face is detected, the </a:t>
            </a:r>
            <a:r>
              <a:rPr lang="en-US" sz="2400" dirty="0" err="1">
                <a:solidFill>
                  <a:srgbClr val="202020"/>
                </a:solidFill>
                <a:latin typeface="Times New Roman"/>
                <a:ea typeface="Times New Roman"/>
                <a:cs typeface="Times New Roman"/>
                <a:sym typeface="Times New Roman"/>
              </a:rPr>
              <a:t>dlib</a:t>
            </a:r>
            <a:r>
              <a:rPr lang="en-US" sz="2400" dirty="0">
                <a:solidFill>
                  <a:srgbClr val="202020"/>
                </a:solidFill>
                <a:latin typeface="Times New Roman"/>
                <a:ea typeface="Times New Roman"/>
                <a:cs typeface="Times New Roman"/>
                <a:sym typeface="Times New Roman"/>
              </a:rPr>
              <a:t> library refines the process by identifying 68 facial landmarks, such as the eyes, eyebrows, nose, mouth, and jawline.</a:t>
            </a:r>
            <a:endParaRPr dirty="0"/>
          </a:p>
          <a:p>
            <a:pPr marL="299085" lvl="0" indent="-286385" algn="just" rtl="0">
              <a:lnSpc>
                <a:spcPct val="150000"/>
              </a:lnSpc>
              <a:spcBef>
                <a:spcPts val="100"/>
              </a:spcBef>
              <a:spcAft>
                <a:spcPts val="0"/>
              </a:spcAft>
              <a:buClr>
                <a:srgbClr val="202020"/>
              </a:buClr>
              <a:buSzPts val="2400"/>
              <a:buFont typeface="Arial"/>
              <a:buChar char="•"/>
            </a:pPr>
            <a:r>
              <a:rPr lang="en-US" sz="2400" dirty="0">
                <a:solidFill>
                  <a:srgbClr val="202020"/>
                </a:solidFill>
                <a:latin typeface="Times New Roman"/>
                <a:ea typeface="Times New Roman"/>
                <a:cs typeface="Times New Roman"/>
                <a:sym typeface="Times New Roman"/>
              </a:rPr>
              <a:t>These landmarks help in identifying the persons.</a:t>
            </a:r>
            <a:endParaRPr sz="2400" dirty="0">
              <a:latin typeface="Times New Roman"/>
              <a:ea typeface="Times New Roman"/>
              <a:cs typeface="Times New Roman"/>
              <a:sym typeface="Times New Roman"/>
            </a:endParaRPr>
          </a:p>
          <a:p>
            <a:pPr marL="299085" lvl="0" indent="-286385" algn="just" rtl="0">
              <a:spcBef>
                <a:spcPts val="1925"/>
              </a:spcBef>
              <a:spcAft>
                <a:spcPts val="0"/>
              </a:spcAft>
              <a:buClr>
                <a:srgbClr val="202020"/>
              </a:buClr>
              <a:buSzPts val="2400"/>
              <a:buFont typeface="Arial"/>
              <a:buChar char="•"/>
            </a:pPr>
            <a:r>
              <a:rPr lang="en-US" sz="2400" dirty="0">
                <a:solidFill>
                  <a:srgbClr val="202020"/>
                </a:solidFill>
                <a:latin typeface="Times New Roman"/>
                <a:ea typeface="Times New Roman"/>
                <a:cs typeface="Times New Roman"/>
                <a:sym typeface="Times New Roman"/>
              </a:rPr>
              <a:t>The frames are saved with highlighted facial features, creating a dataset that</a:t>
            </a:r>
            <a:endParaRPr sz="2400" dirty="0">
              <a:latin typeface="Times New Roman"/>
              <a:ea typeface="Times New Roman"/>
              <a:cs typeface="Times New Roman"/>
              <a:sym typeface="Times New Roman"/>
            </a:endParaRPr>
          </a:p>
          <a:p>
            <a:pPr marL="299085" lvl="0" indent="0" algn="just" rtl="0">
              <a:spcBef>
                <a:spcPts val="1510"/>
              </a:spcBef>
              <a:spcAft>
                <a:spcPts val="0"/>
              </a:spcAft>
              <a:buNone/>
            </a:pPr>
            <a:r>
              <a:rPr lang="en-US" sz="2400" dirty="0">
                <a:solidFill>
                  <a:srgbClr val="202020"/>
                </a:solidFill>
                <a:latin typeface="Times New Roman"/>
                <a:ea typeface="Times New Roman"/>
                <a:cs typeface="Times New Roman"/>
                <a:sym typeface="Times New Roman"/>
              </a:rPr>
              <a:t>can be used for further analysis or model training.</a:t>
            </a:r>
            <a:endParaRPr sz="2400" dirty="0">
              <a:latin typeface="Times New Roman"/>
              <a:ea typeface="Times New Roman"/>
              <a:cs typeface="Times New Roman"/>
              <a:sym typeface="Times New Roman"/>
            </a:endParaRPr>
          </a:p>
          <a:p>
            <a:pPr marL="299085" lvl="0" indent="-286385" algn="just" rtl="0">
              <a:spcBef>
                <a:spcPts val="915"/>
              </a:spcBef>
              <a:spcAft>
                <a:spcPts val="0"/>
              </a:spcAft>
              <a:buClr>
                <a:srgbClr val="202020"/>
              </a:buClr>
              <a:buSzPts val="2400"/>
              <a:buFont typeface="Arial"/>
              <a:buChar char="•"/>
            </a:pPr>
            <a:r>
              <a:rPr lang="en-US" sz="2400" dirty="0">
                <a:solidFill>
                  <a:srgbClr val="202020"/>
                </a:solidFill>
                <a:latin typeface="Times New Roman"/>
                <a:ea typeface="Times New Roman"/>
                <a:cs typeface="Times New Roman"/>
                <a:sym typeface="Times New Roman"/>
              </a:rPr>
              <a:t>By combining OpenCV’s image processing with </a:t>
            </a:r>
            <a:r>
              <a:rPr lang="en-US" sz="2400" dirty="0" err="1">
                <a:solidFill>
                  <a:srgbClr val="202020"/>
                </a:solidFill>
                <a:latin typeface="Times New Roman"/>
                <a:ea typeface="Times New Roman"/>
                <a:cs typeface="Times New Roman"/>
                <a:sym typeface="Times New Roman"/>
              </a:rPr>
              <a:t>dlib’s</a:t>
            </a:r>
            <a:r>
              <a:rPr lang="en-US" sz="2400" dirty="0">
                <a:solidFill>
                  <a:srgbClr val="202020"/>
                </a:solidFill>
                <a:latin typeface="Times New Roman"/>
                <a:ea typeface="Times New Roman"/>
                <a:cs typeface="Times New Roman"/>
                <a:sym typeface="Times New Roman"/>
              </a:rPr>
              <a:t> advanced facial</a:t>
            </a:r>
            <a:endParaRPr sz="2400" dirty="0">
              <a:latin typeface="Times New Roman"/>
              <a:ea typeface="Times New Roman"/>
              <a:cs typeface="Times New Roman"/>
              <a:sym typeface="Times New Roman"/>
            </a:endParaRPr>
          </a:p>
          <a:p>
            <a:pPr marL="299085" marR="517525" lvl="0" indent="0" algn="just" rtl="0">
              <a:spcBef>
                <a:spcPts val="5"/>
              </a:spcBef>
              <a:spcAft>
                <a:spcPts val="0"/>
              </a:spcAft>
              <a:buNone/>
            </a:pPr>
            <a:r>
              <a:rPr lang="en-US" sz="2400" dirty="0">
                <a:solidFill>
                  <a:srgbClr val="202020"/>
                </a:solidFill>
                <a:latin typeface="Times New Roman"/>
                <a:ea typeface="Times New Roman"/>
                <a:cs typeface="Times New Roman"/>
                <a:sym typeface="Times New Roman"/>
              </a:rPr>
              <a:t>recognition, the code efficiently detects and analyzes faces in videos for various applications.</a:t>
            </a:r>
            <a:endParaRPr sz="2400" dirty="0">
              <a:latin typeface="Times New Roman"/>
              <a:ea typeface="Times New Roman"/>
              <a:cs typeface="Times New Roman"/>
              <a:sym typeface="Times New Roman"/>
            </a:endParaRPr>
          </a:p>
        </p:txBody>
      </p:sp>
      <p:sp>
        <p:nvSpPr>
          <p:cNvPr id="140" name="Google Shape;140;p16"/>
          <p:cNvSpPr txBox="1">
            <a:spLocks noGrp="1"/>
          </p:cNvSpPr>
          <p:nvPr>
            <p:ph type="title"/>
          </p:nvPr>
        </p:nvSpPr>
        <p:spPr>
          <a:xfrm>
            <a:off x="4424934" y="948893"/>
            <a:ext cx="4561750" cy="57467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dirty="0"/>
              <a:t>Module 2 Contd..</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50"/>
        <p:cNvGrpSpPr/>
        <p:nvPr/>
      </p:nvGrpSpPr>
      <p:grpSpPr>
        <a:xfrm>
          <a:off x="0" y="0"/>
          <a:ext cx="0" cy="0"/>
          <a:chOff x="0" y="0"/>
          <a:chExt cx="0" cy="0"/>
        </a:xfrm>
      </p:grpSpPr>
      <p:pic>
        <p:nvPicPr>
          <p:cNvPr id="151" name="Google Shape;151;p18"/>
          <p:cNvPicPr preferRelativeResize="0"/>
          <p:nvPr/>
        </p:nvPicPr>
        <p:blipFill rotWithShape="1">
          <a:blip r:embed="rId3">
            <a:alphaModFix/>
          </a:blip>
          <a:srcRect/>
          <a:stretch/>
        </p:blipFill>
        <p:spPr>
          <a:xfrm>
            <a:off x="332231" y="1905000"/>
            <a:ext cx="5230367" cy="3962400"/>
          </a:xfrm>
          <a:prstGeom prst="rect">
            <a:avLst/>
          </a:prstGeom>
          <a:noFill/>
          <a:ln>
            <a:noFill/>
          </a:ln>
        </p:spPr>
      </p:pic>
      <p:pic>
        <p:nvPicPr>
          <p:cNvPr id="152" name="Google Shape;152;p18"/>
          <p:cNvPicPr preferRelativeResize="0"/>
          <p:nvPr/>
        </p:nvPicPr>
        <p:blipFill rotWithShape="1">
          <a:blip r:embed="rId4">
            <a:alphaModFix/>
          </a:blip>
          <a:srcRect/>
          <a:stretch/>
        </p:blipFill>
        <p:spPr>
          <a:xfrm>
            <a:off x="6019800" y="2057400"/>
            <a:ext cx="5562600" cy="3810000"/>
          </a:xfrm>
          <a:prstGeom prst="rect">
            <a:avLst/>
          </a:prstGeom>
          <a:noFill/>
          <a:ln>
            <a:noFill/>
          </a:ln>
        </p:spPr>
      </p:pic>
      <p:sp>
        <p:nvSpPr>
          <p:cNvPr id="153" name="Google Shape;153;p18"/>
          <p:cNvSpPr txBox="1">
            <a:spLocks noGrp="1"/>
          </p:cNvSpPr>
          <p:nvPr>
            <p:ph type="title"/>
          </p:nvPr>
        </p:nvSpPr>
        <p:spPr>
          <a:xfrm>
            <a:off x="931570" y="201625"/>
            <a:ext cx="10229951" cy="1122933"/>
          </a:xfrm>
          <a:prstGeom prst="rect">
            <a:avLst/>
          </a:prstGeom>
          <a:noFill/>
          <a:ln>
            <a:noFill/>
          </a:ln>
        </p:spPr>
        <p:txBody>
          <a:bodyPr spcFirstLastPara="1" wrap="square" lIns="0" tIns="485125" rIns="0" bIns="0" anchor="t" anchorCtr="0">
            <a:spAutoFit/>
          </a:bodyPr>
          <a:lstStyle/>
          <a:p>
            <a:pPr marL="1193800" lvl="0" indent="0" algn="l" rtl="0">
              <a:lnSpc>
                <a:spcPct val="100000"/>
              </a:lnSpc>
              <a:spcBef>
                <a:spcPts val="0"/>
              </a:spcBef>
              <a:spcAft>
                <a:spcPts val="0"/>
              </a:spcAft>
              <a:buNone/>
            </a:pPr>
            <a:r>
              <a:rPr lang="en-US"/>
              <a:t>Output for converting video to frame</a:t>
            </a:r>
            <a:endParaRPr/>
          </a:p>
        </p:txBody>
      </p:sp>
      <p:pic>
        <p:nvPicPr>
          <p:cNvPr id="3" name="Picture 2">
            <a:extLst>
              <a:ext uri="{FF2B5EF4-FFF2-40B4-BE49-F238E27FC236}">
                <a16:creationId xmlns:a16="http://schemas.microsoft.com/office/drawing/2014/main" id="{DB37B168-D141-A800-9F74-01412063BC70}"/>
              </a:ext>
            </a:extLst>
          </p:cNvPr>
          <p:cNvPicPr>
            <a:picLocks noChangeAspect="1"/>
          </p:cNvPicPr>
          <p:nvPr/>
        </p:nvPicPr>
        <p:blipFill>
          <a:blip r:embed="rId5"/>
          <a:stretch>
            <a:fillRect/>
          </a:stretch>
        </p:blipFill>
        <p:spPr>
          <a:xfrm>
            <a:off x="1099306" y="2693766"/>
            <a:ext cx="2607455" cy="1760245"/>
          </a:xfrm>
          <a:prstGeom prst="rect">
            <a:avLst/>
          </a:prstGeom>
        </p:spPr>
      </p:pic>
      <p:sp>
        <p:nvSpPr>
          <p:cNvPr id="5" name="Rectangle 4">
            <a:extLst>
              <a:ext uri="{FF2B5EF4-FFF2-40B4-BE49-F238E27FC236}">
                <a16:creationId xmlns:a16="http://schemas.microsoft.com/office/drawing/2014/main" id="{659F37EB-3848-B03B-7DF7-1A2278736F67}"/>
              </a:ext>
            </a:extLst>
          </p:cNvPr>
          <p:cNvSpPr/>
          <p:nvPr/>
        </p:nvSpPr>
        <p:spPr>
          <a:xfrm>
            <a:off x="1917290" y="3313471"/>
            <a:ext cx="324465" cy="31463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82E481E4-40AA-AAA2-D14F-63D20C4B12C2}"/>
              </a:ext>
            </a:extLst>
          </p:cNvPr>
          <p:cNvSpPr/>
          <p:nvPr/>
        </p:nvSpPr>
        <p:spPr>
          <a:xfrm>
            <a:off x="2502150" y="3372464"/>
            <a:ext cx="324465" cy="255639"/>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44FB773A-D294-ED9A-E690-D46A2B0DF366}"/>
              </a:ext>
            </a:extLst>
          </p:cNvPr>
          <p:cNvSpPr/>
          <p:nvPr/>
        </p:nvSpPr>
        <p:spPr>
          <a:xfrm>
            <a:off x="2005781" y="3805084"/>
            <a:ext cx="496369" cy="255639"/>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5A1E8E01-A376-8540-4028-F9511413D104}"/>
              </a:ext>
            </a:extLst>
          </p:cNvPr>
          <p:cNvSpPr/>
          <p:nvPr/>
        </p:nvSpPr>
        <p:spPr>
          <a:xfrm>
            <a:off x="1759974" y="3008671"/>
            <a:ext cx="1356852" cy="115037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0D7B9480-5CF4-EECC-2434-571AE03577E8}"/>
              </a:ext>
            </a:extLst>
          </p:cNvPr>
          <p:cNvSpPr/>
          <p:nvPr/>
        </p:nvSpPr>
        <p:spPr>
          <a:xfrm>
            <a:off x="1494503" y="2821858"/>
            <a:ext cx="1818968" cy="153383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23349C12-F276-8481-ED14-ACE02CA7068E}"/>
              </a:ext>
            </a:extLst>
          </p:cNvPr>
          <p:cNvPicPr>
            <a:picLocks noChangeAspect="1"/>
          </p:cNvPicPr>
          <p:nvPr/>
        </p:nvPicPr>
        <p:blipFill>
          <a:blip r:embed="rId5"/>
          <a:stretch>
            <a:fillRect/>
          </a:stretch>
        </p:blipFill>
        <p:spPr>
          <a:xfrm>
            <a:off x="8160187" y="3805083"/>
            <a:ext cx="523941" cy="443887"/>
          </a:xfrm>
          <a:prstGeom prst="rect">
            <a:avLst/>
          </a:prstGeom>
        </p:spPr>
      </p:pic>
      <p:pic>
        <p:nvPicPr>
          <p:cNvPr id="14" name="Picture 13">
            <a:extLst>
              <a:ext uri="{FF2B5EF4-FFF2-40B4-BE49-F238E27FC236}">
                <a16:creationId xmlns:a16="http://schemas.microsoft.com/office/drawing/2014/main" id="{89FB2939-BF5B-541B-63CB-650A462A06B5}"/>
              </a:ext>
            </a:extLst>
          </p:cNvPr>
          <p:cNvPicPr>
            <a:picLocks noChangeAspect="1"/>
          </p:cNvPicPr>
          <p:nvPr/>
        </p:nvPicPr>
        <p:blipFill>
          <a:blip r:embed="rId5"/>
          <a:stretch>
            <a:fillRect/>
          </a:stretch>
        </p:blipFill>
        <p:spPr>
          <a:xfrm>
            <a:off x="8684128" y="3824748"/>
            <a:ext cx="523941" cy="398206"/>
          </a:xfrm>
          <a:prstGeom prst="rect">
            <a:avLst/>
          </a:prstGeom>
        </p:spPr>
      </p:pic>
      <p:pic>
        <p:nvPicPr>
          <p:cNvPr id="15" name="Picture 14">
            <a:extLst>
              <a:ext uri="{FF2B5EF4-FFF2-40B4-BE49-F238E27FC236}">
                <a16:creationId xmlns:a16="http://schemas.microsoft.com/office/drawing/2014/main" id="{8D4BEEC7-1A60-3596-DA02-3FE30C411278}"/>
              </a:ext>
            </a:extLst>
          </p:cNvPr>
          <p:cNvPicPr>
            <a:picLocks noChangeAspect="1"/>
          </p:cNvPicPr>
          <p:nvPr/>
        </p:nvPicPr>
        <p:blipFill>
          <a:blip r:embed="rId5"/>
          <a:stretch>
            <a:fillRect/>
          </a:stretch>
        </p:blipFill>
        <p:spPr>
          <a:xfrm>
            <a:off x="10179913" y="4212028"/>
            <a:ext cx="539098" cy="396700"/>
          </a:xfrm>
          <a:prstGeom prst="rect">
            <a:avLst/>
          </a:prstGeom>
        </p:spPr>
      </p:pic>
      <p:pic>
        <p:nvPicPr>
          <p:cNvPr id="16" name="Picture 15">
            <a:extLst>
              <a:ext uri="{FF2B5EF4-FFF2-40B4-BE49-F238E27FC236}">
                <a16:creationId xmlns:a16="http://schemas.microsoft.com/office/drawing/2014/main" id="{90DA23FB-AEAC-DA9B-FB7C-1A8929D74167}"/>
              </a:ext>
            </a:extLst>
          </p:cNvPr>
          <p:cNvPicPr>
            <a:picLocks noChangeAspect="1"/>
          </p:cNvPicPr>
          <p:nvPr/>
        </p:nvPicPr>
        <p:blipFill>
          <a:blip r:embed="rId5"/>
          <a:stretch>
            <a:fillRect/>
          </a:stretch>
        </p:blipFill>
        <p:spPr>
          <a:xfrm>
            <a:off x="10712382" y="4201853"/>
            <a:ext cx="523941" cy="460754"/>
          </a:xfrm>
          <a:prstGeom prst="rect">
            <a:avLst/>
          </a:prstGeom>
        </p:spPr>
      </p:pic>
      <p:pic>
        <p:nvPicPr>
          <p:cNvPr id="17" name="Picture 16">
            <a:extLst>
              <a:ext uri="{FF2B5EF4-FFF2-40B4-BE49-F238E27FC236}">
                <a16:creationId xmlns:a16="http://schemas.microsoft.com/office/drawing/2014/main" id="{70F6B303-F316-0995-26CB-582B8DFBC98E}"/>
              </a:ext>
            </a:extLst>
          </p:cNvPr>
          <p:cNvPicPr>
            <a:picLocks noChangeAspect="1"/>
          </p:cNvPicPr>
          <p:nvPr/>
        </p:nvPicPr>
        <p:blipFill>
          <a:blip r:embed="rId5"/>
          <a:stretch>
            <a:fillRect/>
          </a:stretch>
        </p:blipFill>
        <p:spPr>
          <a:xfrm>
            <a:off x="10727424" y="3824748"/>
            <a:ext cx="523941" cy="376354"/>
          </a:xfrm>
          <a:prstGeom prst="rect">
            <a:avLst/>
          </a:prstGeom>
        </p:spPr>
      </p:pic>
      <p:pic>
        <p:nvPicPr>
          <p:cNvPr id="18" name="Picture 17">
            <a:extLst>
              <a:ext uri="{FF2B5EF4-FFF2-40B4-BE49-F238E27FC236}">
                <a16:creationId xmlns:a16="http://schemas.microsoft.com/office/drawing/2014/main" id="{B79DD3BD-6BA6-42F5-BFFB-32813115DFFB}"/>
              </a:ext>
            </a:extLst>
          </p:cNvPr>
          <p:cNvPicPr>
            <a:picLocks noChangeAspect="1"/>
          </p:cNvPicPr>
          <p:nvPr/>
        </p:nvPicPr>
        <p:blipFill>
          <a:blip r:embed="rId5"/>
          <a:stretch>
            <a:fillRect/>
          </a:stretch>
        </p:blipFill>
        <p:spPr>
          <a:xfrm>
            <a:off x="10229717" y="3835674"/>
            <a:ext cx="523941" cy="376354"/>
          </a:xfrm>
          <a:prstGeom prst="rect">
            <a:avLst/>
          </a:prstGeom>
        </p:spPr>
      </p:pic>
      <p:pic>
        <p:nvPicPr>
          <p:cNvPr id="19" name="Picture 18">
            <a:extLst>
              <a:ext uri="{FF2B5EF4-FFF2-40B4-BE49-F238E27FC236}">
                <a16:creationId xmlns:a16="http://schemas.microsoft.com/office/drawing/2014/main" id="{38626858-5941-E6B8-33BA-B365AAC78499}"/>
              </a:ext>
            </a:extLst>
          </p:cNvPr>
          <p:cNvPicPr>
            <a:picLocks noChangeAspect="1"/>
          </p:cNvPicPr>
          <p:nvPr/>
        </p:nvPicPr>
        <p:blipFill>
          <a:blip r:embed="rId5"/>
          <a:stretch>
            <a:fillRect/>
          </a:stretch>
        </p:blipFill>
        <p:spPr>
          <a:xfrm>
            <a:off x="9705776" y="3824748"/>
            <a:ext cx="523941" cy="376354"/>
          </a:xfrm>
          <a:prstGeom prst="rect">
            <a:avLst/>
          </a:prstGeom>
        </p:spPr>
      </p:pic>
      <p:pic>
        <p:nvPicPr>
          <p:cNvPr id="20" name="Picture 19">
            <a:extLst>
              <a:ext uri="{FF2B5EF4-FFF2-40B4-BE49-F238E27FC236}">
                <a16:creationId xmlns:a16="http://schemas.microsoft.com/office/drawing/2014/main" id="{AE89A7CF-CBC8-5E44-D762-30F995119735}"/>
              </a:ext>
            </a:extLst>
          </p:cNvPr>
          <p:cNvPicPr>
            <a:picLocks noChangeAspect="1"/>
          </p:cNvPicPr>
          <p:nvPr/>
        </p:nvPicPr>
        <p:blipFill>
          <a:blip r:embed="rId5"/>
          <a:stretch>
            <a:fillRect/>
          </a:stretch>
        </p:blipFill>
        <p:spPr>
          <a:xfrm>
            <a:off x="9194952" y="3824748"/>
            <a:ext cx="523941" cy="376354"/>
          </a:xfrm>
          <a:prstGeom prst="rect">
            <a:avLst/>
          </a:prstGeom>
        </p:spPr>
      </p:pic>
      <p:pic>
        <p:nvPicPr>
          <p:cNvPr id="21" name="Picture 20">
            <a:extLst>
              <a:ext uri="{FF2B5EF4-FFF2-40B4-BE49-F238E27FC236}">
                <a16:creationId xmlns:a16="http://schemas.microsoft.com/office/drawing/2014/main" id="{18361558-612C-8B51-F1FB-7F1F4A092003}"/>
              </a:ext>
            </a:extLst>
          </p:cNvPr>
          <p:cNvPicPr>
            <a:picLocks noChangeAspect="1"/>
          </p:cNvPicPr>
          <p:nvPr/>
        </p:nvPicPr>
        <p:blipFill>
          <a:blip r:embed="rId5"/>
          <a:stretch>
            <a:fillRect/>
          </a:stretch>
        </p:blipFill>
        <p:spPr>
          <a:xfrm>
            <a:off x="8151295" y="4594358"/>
            <a:ext cx="523941" cy="444603"/>
          </a:xfrm>
          <a:prstGeom prst="rect">
            <a:avLst/>
          </a:prstGeom>
        </p:spPr>
      </p:pic>
      <p:pic>
        <p:nvPicPr>
          <p:cNvPr id="22" name="Picture 21">
            <a:extLst>
              <a:ext uri="{FF2B5EF4-FFF2-40B4-BE49-F238E27FC236}">
                <a16:creationId xmlns:a16="http://schemas.microsoft.com/office/drawing/2014/main" id="{9A76DB85-4072-7CA8-BB55-72A34DC9FD3F}"/>
              </a:ext>
            </a:extLst>
          </p:cNvPr>
          <p:cNvPicPr>
            <a:picLocks noChangeAspect="1"/>
          </p:cNvPicPr>
          <p:nvPr/>
        </p:nvPicPr>
        <p:blipFill>
          <a:blip r:embed="rId5"/>
          <a:stretch>
            <a:fillRect/>
          </a:stretch>
        </p:blipFill>
        <p:spPr>
          <a:xfrm>
            <a:off x="8699607" y="4208513"/>
            <a:ext cx="523941" cy="394081"/>
          </a:xfrm>
          <a:prstGeom prst="rect">
            <a:avLst/>
          </a:prstGeom>
        </p:spPr>
      </p:pic>
      <p:pic>
        <p:nvPicPr>
          <p:cNvPr id="23" name="Picture 22">
            <a:extLst>
              <a:ext uri="{FF2B5EF4-FFF2-40B4-BE49-F238E27FC236}">
                <a16:creationId xmlns:a16="http://schemas.microsoft.com/office/drawing/2014/main" id="{DB69DBCE-0A7A-FC21-89CF-0AD35EEF4874}"/>
              </a:ext>
            </a:extLst>
          </p:cNvPr>
          <p:cNvPicPr>
            <a:picLocks noChangeAspect="1"/>
          </p:cNvPicPr>
          <p:nvPr/>
        </p:nvPicPr>
        <p:blipFill>
          <a:blip r:embed="rId5"/>
          <a:stretch>
            <a:fillRect/>
          </a:stretch>
        </p:blipFill>
        <p:spPr>
          <a:xfrm>
            <a:off x="8643614" y="4606000"/>
            <a:ext cx="523941" cy="443887"/>
          </a:xfrm>
          <a:prstGeom prst="rect">
            <a:avLst/>
          </a:prstGeom>
        </p:spPr>
      </p:pic>
      <p:pic>
        <p:nvPicPr>
          <p:cNvPr id="24" name="Picture 23">
            <a:extLst>
              <a:ext uri="{FF2B5EF4-FFF2-40B4-BE49-F238E27FC236}">
                <a16:creationId xmlns:a16="http://schemas.microsoft.com/office/drawing/2014/main" id="{91E0E46A-FFE1-1A89-5357-34C7FF9155B7}"/>
              </a:ext>
            </a:extLst>
          </p:cNvPr>
          <p:cNvPicPr>
            <a:picLocks noChangeAspect="1"/>
          </p:cNvPicPr>
          <p:nvPr/>
        </p:nvPicPr>
        <p:blipFill>
          <a:blip r:embed="rId5"/>
          <a:stretch>
            <a:fillRect/>
          </a:stretch>
        </p:blipFill>
        <p:spPr>
          <a:xfrm>
            <a:off x="9158976" y="4612764"/>
            <a:ext cx="523941" cy="426954"/>
          </a:xfrm>
          <a:prstGeom prst="rect">
            <a:avLst/>
          </a:prstGeom>
        </p:spPr>
      </p:pic>
      <p:pic>
        <p:nvPicPr>
          <p:cNvPr id="25" name="Picture 24">
            <a:extLst>
              <a:ext uri="{FF2B5EF4-FFF2-40B4-BE49-F238E27FC236}">
                <a16:creationId xmlns:a16="http://schemas.microsoft.com/office/drawing/2014/main" id="{AF97C608-49C3-254D-AC79-68929C2E782F}"/>
              </a:ext>
            </a:extLst>
          </p:cNvPr>
          <p:cNvPicPr>
            <a:picLocks noChangeAspect="1"/>
          </p:cNvPicPr>
          <p:nvPr/>
        </p:nvPicPr>
        <p:blipFill>
          <a:blip r:embed="rId5"/>
          <a:stretch>
            <a:fillRect/>
          </a:stretch>
        </p:blipFill>
        <p:spPr>
          <a:xfrm>
            <a:off x="9684246" y="4587625"/>
            <a:ext cx="523941" cy="462262"/>
          </a:xfrm>
          <a:prstGeom prst="rect">
            <a:avLst/>
          </a:prstGeom>
        </p:spPr>
      </p:pic>
      <p:pic>
        <p:nvPicPr>
          <p:cNvPr id="26" name="Picture 25">
            <a:extLst>
              <a:ext uri="{FF2B5EF4-FFF2-40B4-BE49-F238E27FC236}">
                <a16:creationId xmlns:a16="http://schemas.microsoft.com/office/drawing/2014/main" id="{EF62645A-FB9D-8C6E-ED6C-79C4D18CD07C}"/>
              </a:ext>
            </a:extLst>
          </p:cNvPr>
          <p:cNvPicPr>
            <a:picLocks noChangeAspect="1"/>
          </p:cNvPicPr>
          <p:nvPr/>
        </p:nvPicPr>
        <p:blipFill>
          <a:blip r:embed="rId5"/>
          <a:stretch>
            <a:fillRect/>
          </a:stretch>
        </p:blipFill>
        <p:spPr>
          <a:xfrm>
            <a:off x="10188441" y="4606000"/>
            <a:ext cx="523941" cy="437159"/>
          </a:xfrm>
          <a:prstGeom prst="rect">
            <a:avLst/>
          </a:prstGeom>
        </p:spPr>
      </p:pic>
      <p:pic>
        <p:nvPicPr>
          <p:cNvPr id="27" name="Picture 26">
            <a:extLst>
              <a:ext uri="{FF2B5EF4-FFF2-40B4-BE49-F238E27FC236}">
                <a16:creationId xmlns:a16="http://schemas.microsoft.com/office/drawing/2014/main" id="{62F64859-9834-BDE6-4A80-75F17D7FCF49}"/>
              </a:ext>
            </a:extLst>
          </p:cNvPr>
          <p:cNvPicPr>
            <a:picLocks noChangeAspect="1"/>
          </p:cNvPicPr>
          <p:nvPr/>
        </p:nvPicPr>
        <p:blipFill>
          <a:blip r:embed="rId5"/>
          <a:stretch>
            <a:fillRect/>
          </a:stretch>
        </p:blipFill>
        <p:spPr>
          <a:xfrm>
            <a:off x="10693965" y="4653187"/>
            <a:ext cx="523941" cy="396700"/>
          </a:xfrm>
          <a:prstGeom prst="rect">
            <a:avLst/>
          </a:prstGeom>
        </p:spPr>
      </p:pic>
      <p:pic>
        <p:nvPicPr>
          <p:cNvPr id="28" name="Picture 27">
            <a:extLst>
              <a:ext uri="{FF2B5EF4-FFF2-40B4-BE49-F238E27FC236}">
                <a16:creationId xmlns:a16="http://schemas.microsoft.com/office/drawing/2014/main" id="{1B9C603A-14A8-3512-DDB3-6C9ADE757141}"/>
              </a:ext>
            </a:extLst>
          </p:cNvPr>
          <p:cNvPicPr>
            <a:picLocks noChangeAspect="1"/>
          </p:cNvPicPr>
          <p:nvPr/>
        </p:nvPicPr>
        <p:blipFill>
          <a:blip r:embed="rId5"/>
          <a:stretch>
            <a:fillRect/>
          </a:stretch>
        </p:blipFill>
        <p:spPr>
          <a:xfrm>
            <a:off x="9189343" y="4190167"/>
            <a:ext cx="523941" cy="422597"/>
          </a:xfrm>
          <a:prstGeom prst="rect">
            <a:avLst/>
          </a:prstGeom>
        </p:spPr>
      </p:pic>
      <p:pic>
        <p:nvPicPr>
          <p:cNvPr id="29" name="Picture 28">
            <a:extLst>
              <a:ext uri="{FF2B5EF4-FFF2-40B4-BE49-F238E27FC236}">
                <a16:creationId xmlns:a16="http://schemas.microsoft.com/office/drawing/2014/main" id="{7AB31835-F7FE-8D9A-5FDD-45B09A1A60D2}"/>
              </a:ext>
            </a:extLst>
          </p:cNvPr>
          <p:cNvPicPr>
            <a:picLocks noChangeAspect="1"/>
          </p:cNvPicPr>
          <p:nvPr/>
        </p:nvPicPr>
        <p:blipFill>
          <a:blip r:embed="rId5"/>
          <a:stretch>
            <a:fillRect/>
          </a:stretch>
        </p:blipFill>
        <p:spPr>
          <a:xfrm>
            <a:off x="9693425" y="4181438"/>
            <a:ext cx="523941" cy="406187"/>
          </a:xfrm>
          <a:prstGeom prst="rect">
            <a:avLst/>
          </a:prstGeom>
        </p:spPr>
      </p:pic>
      <p:pic>
        <p:nvPicPr>
          <p:cNvPr id="30" name="Picture 29">
            <a:extLst>
              <a:ext uri="{FF2B5EF4-FFF2-40B4-BE49-F238E27FC236}">
                <a16:creationId xmlns:a16="http://schemas.microsoft.com/office/drawing/2014/main" id="{AE0D378A-7E06-2925-71E5-25EED0F18356}"/>
              </a:ext>
            </a:extLst>
          </p:cNvPr>
          <p:cNvPicPr>
            <a:picLocks noChangeAspect="1"/>
          </p:cNvPicPr>
          <p:nvPr/>
        </p:nvPicPr>
        <p:blipFill>
          <a:blip r:embed="rId5"/>
          <a:stretch>
            <a:fillRect/>
          </a:stretch>
        </p:blipFill>
        <p:spPr>
          <a:xfrm>
            <a:off x="8175001" y="4234596"/>
            <a:ext cx="523941" cy="37635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06"/>
        <p:cNvGrpSpPr/>
        <p:nvPr/>
      </p:nvGrpSpPr>
      <p:grpSpPr>
        <a:xfrm>
          <a:off x="0" y="0"/>
          <a:ext cx="0" cy="0"/>
          <a:chOff x="0" y="0"/>
          <a:chExt cx="0" cy="0"/>
        </a:xfrm>
      </p:grpSpPr>
      <p:sp>
        <p:nvSpPr>
          <p:cNvPr id="107" name="Google Shape;107;p11"/>
          <p:cNvSpPr txBox="1"/>
          <p:nvPr/>
        </p:nvSpPr>
        <p:spPr>
          <a:xfrm>
            <a:off x="1055197" y="1274183"/>
            <a:ext cx="10452735" cy="5302719"/>
          </a:xfrm>
          <a:prstGeom prst="rect">
            <a:avLst/>
          </a:prstGeom>
          <a:noFill/>
          <a:ln>
            <a:noFill/>
          </a:ln>
        </p:spPr>
        <p:txBody>
          <a:bodyPr spcFirstLastPara="1" wrap="square" lIns="0" tIns="199375" rIns="0" bIns="0" anchor="t" anchorCtr="0">
            <a:spAutoFit/>
          </a:bodyPr>
          <a:lstStyle/>
          <a:p>
            <a:pPr marL="433069" lvl="0" indent="-420369" algn="just" rtl="0">
              <a:lnSpc>
                <a:spcPct val="150000"/>
              </a:lnSpc>
              <a:spcBef>
                <a:spcPts val="0"/>
              </a:spcBef>
              <a:spcAft>
                <a:spcPts val="0"/>
              </a:spcAft>
              <a:buSzPts val="1800"/>
              <a:buFont typeface="Arial"/>
              <a:buChar char="•"/>
            </a:pPr>
            <a:r>
              <a:rPr lang="en-US" sz="2400" dirty="0">
                <a:latin typeface="Times New Roman"/>
                <a:ea typeface="Times New Roman"/>
                <a:cs typeface="Times New Roman"/>
                <a:sym typeface="Times New Roman"/>
              </a:rPr>
              <a:t>It utilizes the </a:t>
            </a:r>
            <a:r>
              <a:rPr lang="en-US" sz="2400" dirty="0" err="1">
                <a:latin typeface="Times New Roman"/>
                <a:ea typeface="Times New Roman"/>
                <a:cs typeface="Times New Roman"/>
                <a:sym typeface="Times New Roman"/>
              </a:rPr>
              <a:t>face_recognition</a:t>
            </a:r>
            <a:r>
              <a:rPr lang="en-US" sz="2400" dirty="0">
                <a:latin typeface="Times New Roman"/>
                <a:ea typeface="Times New Roman"/>
                <a:cs typeface="Times New Roman"/>
                <a:sym typeface="Times New Roman"/>
              </a:rPr>
              <a:t>, dlib library and cv2 (OpenCV) libraries to detect and recognize faces in real-time through a webcam.</a:t>
            </a:r>
            <a:endParaRPr sz="2400" dirty="0">
              <a:latin typeface="Times New Roman"/>
              <a:ea typeface="Times New Roman"/>
              <a:cs typeface="Times New Roman"/>
              <a:sym typeface="Times New Roman"/>
            </a:endParaRPr>
          </a:p>
          <a:p>
            <a:pPr marL="356870" marR="61594" lvl="0" indent="-344805" algn="just" rtl="0">
              <a:lnSpc>
                <a:spcPct val="150000"/>
              </a:lnSpc>
              <a:spcBef>
                <a:spcPts val="405"/>
              </a:spcBef>
              <a:spcAft>
                <a:spcPts val="0"/>
              </a:spcAft>
              <a:buSzPts val="2400"/>
              <a:buFont typeface="Arial"/>
              <a:buChar char="•"/>
            </a:pPr>
            <a:r>
              <a:rPr lang="en-US" sz="2400" dirty="0">
                <a:latin typeface="Times New Roman"/>
                <a:ea typeface="Times New Roman"/>
                <a:cs typeface="Times New Roman"/>
                <a:sym typeface="Times New Roman"/>
              </a:rPr>
              <a:t>Initially, it loads images of missing person("1.jpg" ) and encodes their facial features ( like </a:t>
            </a:r>
            <a:r>
              <a:rPr lang="en-US" sz="2400" dirty="0" err="1">
                <a:latin typeface="Times New Roman"/>
                <a:ea typeface="Times New Roman"/>
                <a:cs typeface="Times New Roman"/>
                <a:sym typeface="Times New Roman"/>
              </a:rPr>
              <a:t>eyes,nose</a:t>
            </a:r>
            <a:r>
              <a:rPr lang="en-US" sz="2400" dirty="0">
                <a:latin typeface="Times New Roman"/>
                <a:ea typeface="Times New Roman"/>
                <a:cs typeface="Times New Roman"/>
                <a:sym typeface="Times New Roman"/>
              </a:rPr>
              <a:t>, edges </a:t>
            </a:r>
            <a:r>
              <a:rPr lang="en-US" sz="2400" dirty="0" err="1">
                <a:latin typeface="Times New Roman"/>
                <a:ea typeface="Times New Roman"/>
                <a:cs typeface="Times New Roman"/>
                <a:sym typeface="Times New Roman"/>
              </a:rPr>
              <a:t>etc</a:t>
            </a:r>
            <a:r>
              <a:rPr lang="en-US" sz="2400" dirty="0">
                <a:latin typeface="Times New Roman"/>
                <a:ea typeface="Times New Roman"/>
                <a:cs typeface="Times New Roman"/>
                <a:sym typeface="Times New Roman"/>
              </a:rPr>
              <a:t>) using </a:t>
            </a:r>
            <a:r>
              <a:rPr lang="en-US" sz="2400" dirty="0" err="1">
                <a:latin typeface="Times New Roman"/>
                <a:ea typeface="Times New Roman"/>
                <a:cs typeface="Times New Roman"/>
                <a:sym typeface="Times New Roman"/>
              </a:rPr>
              <a:t>dlib</a:t>
            </a:r>
            <a:r>
              <a:rPr lang="en-US" sz="2400" dirty="0">
                <a:latin typeface="Times New Roman"/>
                <a:ea typeface="Times New Roman"/>
                <a:cs typeface="Times New Roman"/>
                <a:sym typeface="Times New Roman"/>
              </a:rPr>
              <a:t> library and it is converted into numerical data.</a:t>
            </a:r>
            <a:endParaRPr sz="2400" dirty="0">
              <a:latin typeface="Times New Roman"/>
              <a:ea typeface="Times New Roman"/>
              <a:cs typeface="Times New Roman"/>
              <a:sym typeface="Times New Roman"/>
            </a:endParaRPr>
          </a:p>
          <a:p>
            <a:pPr marL="354965" marR="61594" lvl="0" indent="-342900" algn="just" rtl="0">
              <a:lnSpc>
                <a:spcPct val="150000"/>
              </a:lnSpc>
              <a:spcBef>
                <a:spcPts val="405"/>
              </a:spcBef>
              <a:spcAft>
                <a:spcPts val="0"/>
              </a:spcAft>
              <a:buSzPts val="2400"/>
              <a:buFont typeface="Arial"/>
              <a:buChar char="•"/>
            </a:pPr>
            <a:r>
              <a:rPr lang="en-US" sz="2400" dirty="0">
                <a:latin typeface="Times New Roman"/>
                <a:ea typeface="Times New Roman"/>
                <a:cs typeface="Times New Roman"/>
                <a:sym typeface="Times New Roman"/>
              </a:rPr>
              <a:t>It has 68- point facial landmark detection which can detect the key points of the face.</a:t>
            </a:r>
            <a:endParaRPr sz="2400" dirty="0">
              <a:latin typeface="Times New Roman"/>
              <a:ea typeface="Times New Roman"/>
              <a:cs typeface="Times New Roman"/>
              <a:sym typeface="Times New Roman"/>
            </a:endParaRPr>
          </a:p>
          <a:p>
            <a:pPr marL="356870" marR="322580" lvl="0" indent="-344805" algn="just" rtl="0">
              <a:lnSpc>
                <a:spcPct val="150000"/>
              </a:lnSpc>
              <a:spcBef>
                <a:spcPts val="75"/>
              </a:spcBef>
              <a:spcAft>
                <a:spcPts val="0"/>
              </a:spcAft>
              <a:buSzPts val="2400"/>
              <a:buFont typeface="Arial"/>
              <a:buChar char="•"/>
            </a:pPr>
            <a:r>
              <a:rPr lang="en-US" sz="2400" dirty="0">
                <a:latin typeface="Times New Roman"/>
                <a:ea typeface="Times New Roman"/>
                <a:cs typeface="Times New Roman"/>
                <a:sym typeface="Times New Roman"/>
              </a:rPr>
              <a:t>These encoded faces are stored in the </a:t>
            </a:r>
            <a:r>
              <a:rPr lang="en-US" sz="2400" dirty="0" err="1">
                <a:latin typeface="Times New Roman"/>
                <a:ea typeface="Times New Roman"/>
                <a:cs typeface="Times New Roman"/>
                <a:sym typeface="Times New Roman"/>
              </a:rPr>
              <a:t>known_face_encodings</a:t>
            </a:r>
            <a:r>
              <a:rPr lang="en-US" sz="2400" dirty="0">
                <a:latin typeface="Times New Roman"/>
                <a:ea typeface="Times New Roman"/>
                <a:cs typeface="Times New Roman"/>
                <a:sym typeface="Times New Roman"/>
              </a:rPr>
              <a:t> list and associated with names (</a:t>
            </a:r>
            <a:r>
              <a:rPr lang="en-US" sz="2400" dirty="0" err="1">
                <a:latin typeface="Times New Roman"/>
                <a:ea typeface="Times New Roman"/>
                <a:cs typeface="Times New Roman"/>
                <a:sym typeface="Times New Roman"/>
              </a:rPr>
              <a:t>e.g</a:t>
            </a:r>
            <a:r>
              <a:rPr lang="en-US" sz="2400" dirty="0">
                <a:latin typeface="Times New Roman"/>
                <a:ea typeface="Times New Roman"/>
                <a:cs typeface="Times New Roman"/>
                <a:sym typeface="Times New Roman"/>
              </a:rPr>
              <a:t>, "A" ) in the </a:t>
            </a:r>
            <a:r>
              <a:rPr lang="en-US" sz="2400" dirty="0" err="1">
                <a:latin typeface="Times New Roman"/>
                <a:ea typeface="Times New Roman"/>
                <a:cs typeface="Times New Roman"/>
                <a:sym typeface="Times New Roman"/>
              </a:rPr>
              <a:t>known_face_names</a:t>
            </a:r>
            <a:r>
              <a:rPr lang="en-US" sz="2400" dirty="0">
                <a:latin typeface="Times New Roman"/>
                <a:ea typeface="Times New Roman"/>
                <a:cs typeface="Times New Roman"/>
                <a:sym typeface="Times New Roman"/>
              </a:rPr>
              <a:t> list.</a:t>
            </a:r>
            <a:endParaRPr sz="2400" dirty="0">
              <a:latin typeface="Times New Roman"/>
              <a:ea typeface="Times New Roman"/>
              <a:cs typeface="Times New Roman"/>
              <a:sym typeface="Times New Roman"/>
            </a:endParaRPr>
          </a:p>
        </p:txBody>
      </p:sp>
      <p:sp>
        <p:nvSpPr>
          <p:cNvPr id="108" name="Google Shape;108;p11"/>
          <p:cNvSpPr txBox="1">
            <a:spLocks noGrp="1"/>
          </p:cNvSpPr>
          <p:nvPr>
            <p:ph type="title"/>
          </p:nvPr>
        </p:nvSpPr>
        <p:spPr>
          <a:xfrm>
            <a:off x="931568" y="0"/>
            <a:ext cx="11004791" cy="905992"/>
          </a:xfrm>
          <a:prstGeom prst="rect">
            <a:avLst/>
          </a:prstGeom>
          <a:noFill/>
          <a:ln>
            <a:noFill/>
          </a:ln>
        </p:spPr>
        <p:txBody>
          <a:bodyPr spcFirstLastPara="1" wrap="square" lIns="0" tIns="295250" rIns="0" bIns="0" anchor="t" anchorCtr="0">
            <a:spAutoFit/>
          </a:bodyPr>
          <a:lstStyle/>
          <a:p>
            <a:pPr marL="438150" lvl="0" indent="0" algn="l" rtl="0">
              <a:lnSpc>
                <a:spcPct val="100000"/>
              </a:lnSpc>
              <a:spcBef>
                <a:spcPts val="0"/>
              </a:spcBef>
              <a:spcAft>
                <a:spcPts val="0"/>
              </a:spcAft>
              <a:buNone/>
            </a:pPr>
            <a:r>
              <a:rPr lang="en-US" sz="3950" dirty="0"/>
              <a:t>Module 3: Deep Learning Model Implementation</a:t>
            </a:r>
            <a:endParaRPr sz="3950" dirty="0"/>
          </a:p>
        </p:txBody>
      </p:sp>
      <p:grpSp>
        <p:nvGrpSpPr>
          <p:cNvPr id="19" name="Group 18">
            <a:extLst>
              <a:ext uri="{FF2B5EF4-FFF2-40B4-BE49-F238E27FC236}">
                <a16:creationId xmlns:a16="http://schemas.microsoft.com/office/drawing/2014/main" id="{139606F2-F38B-10A9-0C8E-6B9CC9EC7EB6}"/>
              </a:ext>
            </a:extLst>
          </p:cNvPr>
          <p:cNvGrpSpPr/>
          <p:nvPr/>
        </p:nvGrpSpPr>
        <p:grpSpPr>
          <a:xfrm>
            <a:off x="6655071" y="2715105"/>
            <a:ext cx="2583360" cy="905040"/>
            <a:chOff x="6655071" y="2715105"/>
            <a:chExt cx="2583360" cy="905040"/>
          </a:xfrm>
        </p:grpSpPr>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006E9815-9E45-ACA3-3CF3-68010A7D69FF}"/>
                    </a:ext>
                  </a:extLst>
                </p14:cNvPr>
                <p14:cNvContentPartPr/>
                <p14:nvPr/>
              </p14:nvContentPartPr>
              <p14:xfrm>
                <a:off x="9238071" y="2715105"/>
                <a:ext cx="360" cy="360"/>
              </p14:xfrm>
            </p:contentPart>
          </mc:Choice>
          <mc:Fallback xmlns="">
            <p:pic>
              <p:nvPicPr>
                <p:cNvPr id="10" name="Ink 9">
                  <a:extLst>
                    <a:ext uri="{FF2B5EF4-FFF2-40B4-BE49-F238E27FC236}">
                      <a16:creationId xmlns:a16="http://schemas.microsoft.com/office/drawing/2014/main" id="{006E9815-9E45-ACA3-3CF3-68010A7D69FF}"/>
                    </a:ext>
                  </a:extLst>
                </p:cNvPr>
                <p:cNvPicPr/>
                <p:nvPr/>
              </p:nvPicPr>
              <p:blipFill>
                <a:blip r:embed="rId4"/>
                <a:stretch>
                  <a:fillRect/>
                </a:stretch>
              </p:blipFill>
              <p:spPr>
                <a:xfrm>
                  <a:off x="9231951" y="27089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5DCFB86B-A53C-066B-3CA4-2A272F39D44F}"/>
                    </a:ext>
                  </a:extLst>
                </p14:cNvPr>
                <p14:cNvContentPartPr/>
                <p14:nvPr/>
              </p14:nvContentPartPr>
              <p14:xfrm>
                <a:off x="6655071" y="3619785"/>
                <a:ext cx="360" cy="360"/>
              </p14:xfrm>
            </p:contentPart>
          </mc:Choice>
          <mc:Fallback xmlns="">
            <p:pic>
              <p:nvPicPr>
                <p:cNvPr id="14" name="Ink 13">
                  <a:extLst>
                    <a:ext uri="{FF2B5EF4-FFF2-40B4-BE49-F238E27FC236}">
                      <a16:creationId xmlns:a16="http://schemas.microsoft.com/office/drawing/2014/main" id="{5DCFB86B-A53C-066B-3CA4-2A272F39D44F}"/>
                    </a:ext>
                  </a:extLst>
                </p:cNvPr>
                <p:cNvPicPr/>
                <p:nvPr/>
              </p:nvPicPr>
              <p:blipFill>
                <a:blip r:embed="rId4"/>
                <a:stretch>
                  <a:fillRect/>
                </a:stretch>
              </p:blipFill>
              <p:spPr>
                <a:xfrm>
                  <a:off x="6648951" y="3613665"/>
                  <a:ext cx="12600" cy="12600"/>
                </a:xfrm>
                <a:prstGeom prst="rect">
                  <a:avLst/>
                </a:prstGeom>
              </p:spPr>
            </p:pic>
          </mc:Fallback>
        </mc:AlternateContent>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12"/>
        <p:cNvGrpSpPr/>
        <p:nvPr/>
      </p:nvGrpSpPr>
      <p:grpSpPr>
        <a:xfrm>
          <a:off x="0" y="0"/>
          <a:ext cx="0" cy="0"/>
          <a:chOff x="0" y="0"/>
          <a:chExt cx="0" cy="0"/>
        </a:xfrm>
      </p:grpSpPr>
      <p:sp>
        <p:nvSpPr>
          <p:cNvPr id="113" name="Google Shape;113;p12"/>
          <p:cNvSpPr txBox="1"/>
          <p:nvPr/>
        </p:nvSpPr>
        <p:spPr>
          <a:xfrm>
            <a:off x="668527" y="1421129"/>
            <a:ext cx="11078845" cy="3969030"/>
          </a:xfrm>
          <a:prstGeom prst="rect">
            <a:avLst/>
          </a:prstGeom>
          <a:noFill/>
          <a:ln>
            <a:noFill/>
          </a:ln>
        </p:spPr>
        <p:txBody>
          <a:bodyPr spcFirstLastPara="1" wrap="square" lIns="0" tIns="201925" rIns="0" bIns="0" anchor="t" anchorCtr="0">
            <a:spAutoFit/>
          </a:bodyPr>
          <a:lstStyle/>
          <a:p>
            <a:pPr marL="356870" lvl="0" indent="-344170" algn="just" rtl="0">
              <a:lnSpc>
                <a:spcPct val="100000"/>
              </a:lnSpc>
              <a:spcBef>
                <a:spcPts val="0"/>
              </a:spcBef>
              <a:spcAft>
                <a:spcPts val="0"/>
              </a:spcAft>
              <a:buSzPts val="2400"/>
              <a:buFont typeface="Arial"/>
              <a:buChar char="•"/>
            </a:pPr>
            <a:r>
              <a:rPr lang="en-US" sz="2400" dirty="0">
                <a:latin typeface="Times New Roman"/>
                <a:ea typeface="Times New Roman"/>
                <a:cs typeface="Times New Roman"/>
                <a:sym typeface="Times New Roman"/>
              </a:rPr>
              <a:t>A sample video is taken for the </a:t>
            </a:r>
            <a:r>
              <a:rPr lang="en-US" sz="2400" dirty="0" err="1">
                <a:latin typeface="Times New Roman"/>
                <a:ea typeface="Times New Roman"/>
                <a:cs typeface="Times New Roman"/>
                <a:sym typeface="Times New Roman"/>
              </a:rPr>
              <a:t>cctv</a:t>
            </a:r>
            <a:r>
              <a:rPr lang="en-US" sz="2400" dirty="0">
                <a:latin typeface="Times New Roman"/>
                <a:ea typeface="Times New Roman"/>
                <a:cs typeface="Times New Roman"/>
                <a:sym typeface="Times New Roman"/>
              </a:rPr>
              <a:t> video.</a:t>
            </a:r>
            <a:endParaRPr sz="2400" dirty="0">
              <a:latin typeface="Times New Roman"/>
              <a:ea typeface="Times New Roman"/>
              <a:cs typeface="Times New Roman"/>
              <a:sym typeface="Times New Roman"/>
            </a:endParaRPr>
          </a:p>
          <a:p>
            <a:pPr marL="356870" lvl="0" indent="-344170" algn="just" rtl="0">
              <a:lnSpc>
                <a:spcPct val="100000"/>
              </a:lnSpc>
              <a:spcBef>
                <a:spcPts val="1490"/>
              </a:spcBef>
              <a:spcAft>
                <a:spcPts val="0"/>
              </a:spcAft>
              <a:buSzPts val="2400"/>
              <a:buFont typeface="Arial"/>
              <a:buChar char="•"/>
            </a:pPr>
            <a:r>
              <a:rPr lang="en-US" sz="2400" dirty="0">
                <a:latin typeface="Times New Roman"/>
                <a:ea typeface="Times New Roman"/>
                <a:cs typeface="Times New Roman"/>
                <a:sym typeface="Times New Roman"/>
              </a:rPr>
              <a:t>Theses video frames are resized and converted to RGB for face detection.</a:t>
            </a:r>
            <a:endParaRPr sz="2400" dirty="0">
              <a:latin typeface="Times New Roman"/>
              <a:ea typeface="Times New Roman"/>
              <a:cs typeface="Times New Roman"/>
              <a:sym typeface="Times New Roman"/>
            </a:endParaRPr>
          </a:p>
          <a:p>
            <a:pPr marL="356870" lvl="0" indent="-344170" algn="just" rtl="0">
              <a:lnSpc>
                <a:spcPct val="100000"/>
              </a:lnSpc>
              <a:spcBef>
                <a:spcPts val="1395"/>
              </a:spcBef>
              <a:spcAft>
                <a:spcPts val="0"/>
              </a:spcAft>
              <a:buSzPts val="2400"/>
              <a:buFont typeface="Arial"/>
              <a:buChar char="•"/>
            </a:pPr>
            <a:r>
              <a:rPr lang="en-US" sz="2400" dirty="0">
                <a:latin typeface="Times New Roman"/>
                <a:ea typeface="Times New Roman"/>
                <a:cs typeface="Times New Roman"/>
                <a:sym typeface="Times New Roman"/>
              </a:rPr>
              <a:t>It compares these encodings against the known face encodings using </a:t>
            </a:r>
            <a:r>
              <a:rPr lang="en-US" sz="2400" dirty="0" err="1">
                <a:latin typeface="Times New Roman"/>
                <a:ea typeface="Times New Roman"/>
                <a:cs typeface="Times New Roman"/>
                <a:sym typeface="Times New Roman"/>
              </a:rPr>
              <a:t>compare_faces</a:t>
            </a:r>
            <a:r>
              <a:rPr lang="en-US" sz="2400" dirty="0">
                <a:latin typeface="Times New Roman"/>
                <a:ea typeface="Times New Roman"/>
                <a:cs typeface="Times New Roman"/>
                <a:sym typeface="Times New Roman"/>
              </a:rPr>
              <a:t>().</a:t>
            </a:r>
            <a:endParaRPr sz="2400" dirty="0">
              <a:latin typeface="Times New Roman"/>
              <a:ea typeface="Times New Roman"/>
              <a:cs typeface="Times New Roman"/>
              <a:sym typeface="Times New Roman"/>
            </a:endParaRPr>
          </a:p>
          <a:p>
            <a:pPr marL="433069" lvl="0" indent="-420369" algn="just" rtl="0">
              <a:lnSpc>
                <a:spcPct val="100000"/>
              </a:lnSpc>
              <a:spcBef>
                <a:spcPts val="960"/>
              </a:spcBef>
              <a:spcAft>
                <a:spcPts val="0"/>
              </a:spcAft>
              <a:buSzPts val="1800"/>
              <a:buFont typeface="Arial"/>
              <a:buChar char="•"/>
            </a:pPr>
            <a:r>
              <a:rPr lang="en-US" sz="2400" dirty="0">
                <a:latin typeface="Times New Roman"/>
                <a:ea typeface="Times New Roman"/>
                <a:cs typeface="Times New Roman"/>
                <a:sym typeface="Times New Roman"/>
              </a:rPr>
              <a:t>If a match	is found, the name associated	with the known face is displayed on the</a:t>
            </a:r>
            <a:endParaRPr sz="2400" dirty="0">
              <a:latin typeface="Times New Roman"/>
              <a:ea typeface="Times New Roman"/>
              <a:cs typeface="Times New Roman"/>
              <a:sym typeface="Times New Roman"/>
            </a:endParaRPr>
          </a:p>
          <a:p>
            <a:pPr marL="356870" lvl="0" indent="0" algn="just" rtl="0">
              <a:lnSpc>
                <a:spcPct val="100000"/>
              </a:lnSpc>
              <a:spcBef>
                <a:spcPts val="1465"/>
              </a:spcBef>
              <a:spcAft>
                <a:spcPts val="0"/>
              </a:spcAft>
              <a:buNone/>
            </a:pPr>
            <a:r>
              <a:rPr lang="en-US" sz="2400" dirty="0">
                <a:latin typeface="Times New Roman"/>
                <a:ea typeface="Times New Roman"/>
                <a:cs typeface="Times New Roman"/>
                <a:sym typeface="Times New Roman"/>
              </a:rPr>
              <a:t>screen, and a red rectangle is drawn around the detected face.</a:t>
            </a:r>
            <a:endParaRPr sz="2400" dirty="0">
              <a:latin typeface="Times New Roman"/>
              <a:ea typeface="Times New Roman"/>
              <a:cs typeface="Times New Roman"/>
              <a:sym typeface="Times New Roman"/>
            </a:endParaRPr>
          </a:p>
          <a:p>
            <a:pPr marL="356870" lvl="0" indent="-344170" algn="just" rtl="0">
              <a:lnSpc>
                <a:spcPct val="100000"/>
              </a:lnSpc>
              <a:spcBef>
                <a:spcPts val="1925"/>
              </a:spcBef>
              <a:spcAft>
                <a:spcPts val="0"/>
              </a:spcAft>
              <a:buSzPts val="2400"/>
              <a:buFont typeface="Arial"/>
              <a:buChar char="•"/>
            </a:pPr>
            <a:r>
              <a:rPr lang="en-US" sz="2400" dirty="0">
                <a:latin typeface="Times New Roman"/>
                <a:ea typeface="Times New Roman"/>
                <a:cs typeface="Times New Roman"/>
                <a:sym typeface="Times New Roman"/>
              </a:rPr>
              <a:t>If no match is found, the system labels the face as "Unknown.“</a:t>
            </a:r>
          </a:p>
          <a:p>
            <a:pPr marL="356870" lvl="0" indent="-344170" algn="just" rtl="0">
              <a:lnSpc>
                <a:spcPct val="100000"/>
              </a:lnSpc>
              <a:spcBef>
                <a:spcPts val="1925"/>
              </a:spcBef>
              <a:spcAft>
                <a:spcPts val="0"/>
              </a:spcAft>
              <a:buSzPts val="2400"/>
              <a:buFont typeface="Arial"/>
              <a:buChar char="•"/>
            </a:pPr>
            <a:r>
              <a:rPr lang="en-US" sz="2400" dirty="0">
                <a:latin typeface="Times New Roman"/>
                <a:ea typeface="Times New Roman"/>
                <a:cs typeface="Times New Roman"/>
                <a:sym typeface="Times New Roman"/>
              </a:rPr>
              <a:t>By using this method, the system can help identify people in real-time.</a:t>
            </a:r>
            <a:endParaRPr sz="2400" dirty="0">
              <a:latin typeface="Times New Roman"/>
              <a:ea typeface="Times New Roman"/>
              <a:cs typeface="Times New Roman"/>
              <a:sym typeface="Times New Roman"/>
            </a:endParaRPr>
          </a:p>
        </p:txBody>
      </p:sp>
      <p:sp>
        <p:nvSpPr>
          <p:cNvPr id="114" name="Google Shape;114;p12"/>
          <p:cNvSpPr txBox="1">
            <a:spLocks noGrp="1"/>
          </p:cNvSpPr>
          <p:nvPr>
            <p:ph type="title"/>
          </p:nvPr>
        </p:nvSpPr>
        <p:spPr>
          <a:xfrm>
            <a:off x="931570" y="201625"/>
            <a:ext cx="10229951" cy="715106"/>
          </a:xfrm>
          <a:prstGeom prst="rect">
            <a:avLst/>
          </a:prstGeom>
          <a:noFill/>
          <a:ln>
            <a:noFill/>
          </a:ln>
        </p:spPr>
        <p:txBody>
          <a:bodyPr spcFirstLastPara="1" wrap="square" lIns="0" tIns="159550" rIns="0" bIns="0" anchor="t" anchorCtr="0">
            <a:spAutoFit/>
          </a:bodyPr>
          <a:lstStyle/>
          <a:p>
            <a:pPr marL="3006725" lvl="0" indent="0" algn="l" rtl="0">
              <a:lnSpc>
                <a:spcPct val="100000"/>
              </a:lnSpc>
              <a:spcBef>
                <a:spcPts val="0"/>
              </a:spcBef>
              <a:spcAft>
                <a:spcPts val="0"/>
              </a:spcAft>
              <a:buNone/>
            </a:pPr>
            <a:r>
              <a:rPr lang="en-US" dirty="0"/>
              <a:t>Module 3 Contd..</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24"/>
        <p:cNvGrpSpPr/>
        <p:nvPr/>
      </p:nvGrpSpPr>
      <p:grpSpPr>
        <a:xfrm>
          <a:off x="0" y="0"/>
          <a:ext cx="0" cy="0"/>
          <a:chOff x="0" y="0"/>
          <a:chExt cx="0" cy="0"/>
        </a:xfrm>
      </p:grpSpPr>
      <p:sp>
        <p:nvSpPr>
          <p:cNvPr id="125" name="Google Shape;125;p14"/>
          <p:cNvSpPr txBox="1">
            <a:spLocks noGrp="1"/>
          </p:cNvSpPr>
          <p:nvPr>
            <p:ph type="title"/>
          </p:nvPr>
        </p:nvSpPr>
        <p:spPr>
          <a:xfrm>
            <a:off x="931570" y="201625"/>
            <a:ext cx="10229951" cy="637909"/>
          </a:xfrm>
          <a:prstGeom prst="rect">
            <a:avLst/>
          </a:prstGeom>
          <a:noFill/>
          <a:ln>
            <a:noFill/>
          </a:ln>
        </p:spPr>
        <p:txBody>
          <a:bodyPr spcFirstLastPara="1" wrap="square" lIns="0" tIns="83100" rIns="0" bIns="0" anchor="t" anchorCtr="0">
            <a:spAutoFit/>
          </a:bodyPr>
          <a:lstStyle/>
          <a:p>
            <a:pPr marL="351155" lvl="0" indent="0" algn="ctr" rtl="0">
              <a:lnSpc>
                <a:spcPct val="100000"/>
              </a:lnSpc>
              <a:spcBef>
                <a:spcPts val="0"/>
              </a:spcBef>
              <a:spcAft>
                <a:spcPts val="0"/>
              </a:spcAft>
              <a:buNone/>
            </a:pPr>
            <a:r>
              <a:rPr lang="en-US" dirty="0"/>
              <a:t>Output for facial recognition</a:t>
            </a:r>
            <a:endParaRPr dirty="0"/>
          </a:p>
        </p:txBody>
      </p:sp>
      <p:pic>
        <p:nvPicPr>
          <p:cNvPr id="126" name="Google Shape;126;p14"/>
          <p:cNvPicPr preferRelativeResize="0"/>
          <p:nvPr/>
        </p:nvPicPr>
        <p:blipFill rotWithShape="1">
          <a:blip r:embed="rId3">
            <a:alphaModFix/>
          </a:blip>
          <a:srcRect/>
          <a:stretch/>
        </p:blipFill>
        <p:spPr>
          <a:xfrm>
            <a:off x="865632" y="1094232"/>
            <a:ext cx="10488168" cy="5239512"/>
          </a:xfrm>
          <a:prstGeom prst="rect">
            <a:avLst/>
          </a:prstGeom>
          <a:noFill/>
          <a:ln>
            <a:noFill/>
          </a:ln>
        </p:spPr>
      </p:pic>
      <p:pic>
        <p:nvPicPr>
          <p:cNvPr id="127" name="Google Shape;127;p14"/>
          <p:cNvPicPr preferRelativeResize="0"/>
          <p:nvPr/>
        </p:nvPicPr>
        <p:blipFill rotWithShape="1">
          <a:blip r:embed="rId4">
            <a:alphaModFix/>
          </a:blip>
          <a:srcRect/>
          <a:stretch/>
        </p:blipFill>
        <p:spPr>
          <a:xfrm>
            <a:off x="6781799" y="1905000"/>
            <a:ext cx="4379722" cy="2590800"/>
          </a:xfrm>
          <a:prstGeom prst="rect">
            <a:avLst/>
          </a:prstGeom>
          <a:noFill/>
          <a:ln>
            <a:noFill/>
          </a:ln>
        </p:spPr>
      </p:pic>
      <p:sp>
        <p:nvSpPr>
          <p:cNvPr id="128" name="Google Shape;128;p14"/>
          <p:cNvSpPr txBox="1"/>
          <p:nvPr/>
        </p:nvSpPr>
        <p:spPr>
          <a:xfrm>
            <a:off x="8224684" y="4126468"/>
            <a:ext cx="3124200" cy="369332"/>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800">
                <a:solidFill>
                  <a:schemeClr val="lt1"/>
                </a:solidFill>
              </a:rPr>
              <a:t>UNKNOWN</a:t>
            </a:r>
            <a:endParaRPr sz="1800">
              <a:solidFill>
                <a:schemeClr val="lt1"/>
              </a:solidFill>
            </a:endParaRPr>
          </a:p>
        </p:txBody>
      </p:sp>
      <p:pic>
        <p:nvPicPr>
          <p:cNvPr id="3" name="Picture 2">
            <a:extLst>
              <a:ext uri="{FF2B5EF4-FFF2-40B4-BE49-F238E27FC236}">
                <a16:creationId xmlns:a16="http://schemas.microsoft.com/office/drawing/2014/main" id="{54686E57-19D6-C810-9523-36E4460D0A54}"/>
              </a:ext>
            </a:extLst>
          </p:cNvPr>
          <p:cNvPicPr>
            <a:picLocks noChangeAspect="1"/>
          </p:cNvPicPr>
          <p:nvPr/>
        </p:nvPicPr>
        <p:blipFill>
          <a:blip r:embed="rId5"/>
          <a:stretch>
            <a:fillRect/>
          </a:stretch>
        </p:blipFill>
        <p:spPr>
          <a:xfrm>
            <a:off x="7364537" y="2318020"/>
            <a:ext cx="3490276" cy="180844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5"/>
          <p:cNvSpPr txBox="1">
            <a:spLocks noGrp="1"/>
          </p:cNvSpPr>
          <p:nvPr>
            <p:ph type="title"/>
          </p:nvPr>
        </p:nvSpPr>
        <p:spPr>
          <a:xfrm>
            <a:off x="981023" y="304800"/>
            <a:ext cx="10229951" cy="615553"/>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US" sz="3600"/>
              <a:t> </a:t>
            </a:r>
            <a:r>
              <a:rPr lang="en-US" sz="4000"/>
              <a:t>Module 4: </a:t>
            </a:r>
            <a:r>
              <a:rPr lang="en-US" sz="4000" b="1">
                <a:latin typeface="Times New Roman"/>
                <a:ea typeface="Times New Roman"/>
                <a:cs typeface="Times New Roman"/>
                <a:sym typeface="Times New Roman"/>
              </a:rPr>
              <a:t> </a:t>
            </a:r>
            <a:r>
              <a:rPr lang="en-US" sz="4000">
                <a:latin typeface="Times New Roman"/>
                <a:ea typeface="Times New Roman"/>
                <a:cs typeface="Times New Roman"/>
                <a:sym typeface="Times New Roman"/>
              </a:rPr>
              <a:t>Notification </a:t>
            </a:r>
            <a:r>
              <a:rPr lang="en-US" sz="4000"/>
              <a:t>System</a:t>
            </a:r>
            <a:endParaRPr/>
          </a:p>
        </p:txBody>
      </p:sp>
      <p:sp>
        <p:nvSpPr>
          <p:cNvPr id="198" name="Google Shape;198;p25"/>
          <p:cNvSpPr txBox="1">
            <a:spLocks noGrp="1"/>
          </p:cNvSpPr>
          <p:nvPr>
            <p:ph type="body" idx="1"/>
          </p:nvPr>
        </p:nvSpPr>
        <p:spPr>
          <a:xfrm>
            <a:off x="799158" y="1463040"/>
            <a:ext cx="10817199" cy="4801314"/>
          </a:xfrm>
          <a:prstGeom prst="rect">
            <a:avLst/>
          </a:prstGeom>
          <a:noFill/>
          <a:ln>
            <a:noFill/>
          </a:ln>
        </p:spPr>
        <p:txBody>
          <a:bodyPr spcFirstLastPara="1" wrap="square" lIns="0" tIns="0" rIns="0" bIns="0" anchor="t" anchorCtr="0">
            <a:spAutoFit/>
          </a:bodyPr>
          <a:lstStyle/>
          <a:p>
            <a:pPr marL="342900" lvl="0" indent="-342900" algn="just" rtl="0">
              <a:spcBef>
                <a:spcPts val="0"/>
              </a:spcBef>
              <a:spcAft>
                <a:spcPts val="0"/>
              </a:spcAft>
              <a:buClr>
                <a:srgbClr val="202020"/>
              </a:buClr>
              <a:buSzPts val="2800"/>
              <a:buFont typeface="Arial"/>
              <a:buChar char="•"/>
            </a:pPr>
            <a:r>
              <a:rPr lang="en-US" sz="2800" dirty="0"/>
              <a:t>When a match is found the portal generates a alert.</a:t>
            </a:r>
            <a:endParaRPr dirty="0"/>
          </a:p>
          <a:p>
            <a:pPr marL="342900" lvl="0" indent="-342900" algn="just" rtl="0">
              <a:spcBef>
                <a:spcPts val="0"/>
              </a:spcBef>
              <a:spcAft>
                <a:spcPts val="0"/>
              </a:spcAft>
              <a:buClr>
                <a:srgbClr val="202020"/>
              </a:buClr>
              <a:buSzPts val="2800"/>
              <a:buFont typeface="Arial"/>
              <a:buChar char="•"/>
            </a:pPr>
            <a:r>
              <a:rPr lang="en-US" sz="2800" dirty="0"/>
              <a:t>Alerts include frame details and location, sent via dashboards.</a:t>
            </a:r>
            <a:endParaRPr dirty="0"/>
          </a:p>
          <a:p>
            <a:pPr marL="342900" lvl="0" indent="-342900" algn="just" rtl="0">
              <a:spcBef>
                <a:spcPts val="0"/>
              </a:spcBef>
              <a:spcAft>
                <a:spcPts val="0"/>
              </a:spcAft>
              <a:buClr>
                <a:srgbClr val="202020"/>
              </a:buClr>
              <a:buSzPts val="2800"/>
              <a:buFont typeface="Arial"/>
              <a:buChar char="•"/>
            </a:pPr>
            <a:r>
              <a:rPr lang="en-US" sz="2800" dirty="0"/>
              <a:t>These are displayed in the alert</a:t>
            </a:r>
            <a:endParaRPr dirty="0"/>
          </a:p>
          <a:p>
            <a:pPr marL="0" lvl="0" indent="0" algn="just" rtl="0">
              <a:spcBef>
                <a:spcPts val="0"/>
              </a:spcBef>
              <a:spcAft>
                <a:spcPts val="0"/>
              </a:spcAft>
              <a:buClr>
                <a:srgbClr val="202020"/>
              </a:buClr>
              <a:buSzPts val="2800"/>
            </a:pPr>
            <a:r>
              <a:rPr lang="en-US" sz="2800" dirty="0"/>
              <a:t>	 </a:t>
            </a:r>
            <a:r>
              <a:rPr lang="en-US" sz="2800" b="1" dirty="0"/>
              <a:t>1.Frame Number: </a:t>
            </a:r>
            <a:r>
              <a:rPr lang="en-US" sz="2800" dirty="0"/>
              <a:t>Identifies the video frame containing the match.</a:t>
            </a:r>
            <a:endParaRPr dirty="0"/>
          </a:p>
          <a:p>
            <a:pPr marL="0" lvl="0" indent="0" algn="just" rtl="0">
              <a:spcBef>
                <a:spcPts val="0"/>
              </a:spcBef>
              <a:spcAft>
                <a:spcPts val="0"/>
              </a:spcAft>
              <a:buClr>
                <a:srgbClr val="202020"/>
              </a:buClr>
              <a:buSzPts val="2800"/>
            </a:pPr>
            <a:r>
              <a:rPr lang="en-US" sz="2800" dirty="0"/>
              <a:t>	 </a:t>
            </a:r>
            <a:r>
              <a:rPr lang="en-US" sz="2800" b="1" dirty="0"/>
              <a:t>2.Similarity Score: </a:t>
            </a:r>
            <a:r>
              <a:rPr lang="en-US" sz="2800" dirty="0"/>
              <a:t>Confidence level of the match (closer to 1.0 indicates high accuracy).</a:t>
            </a:r>
            <a:endParaRPr dirty="0"/>
          </a:p>
          <a:p>
            <a:pPr marL="0" lvl="0" indent="0" algn="just" rtl="0">
              <a:spcBef>
                <a:spcPts val="0"/>
              </a:spcBef>
              <a:spcAft>
                <a:spcPts val="0"/>
              </a:spcAft>
              <a:buClr>
                <a:srgbClr val="202020"/>
              </a:buClr>
              <a:buSzPts val="2800"/>
            </a:pPr>
            <a:r>
              <a:rPr lang="en-US" sz="2800" dirty="0"/>
              <a:t>	</a:t>
            </a:r>
            <a:r>
              <a:rPr lang="en-US" sz="2800" b="1" dirty="0"/>
              <a:t>3.CCTV Frame Visualization: </a:t>
            </a:r>
            <a:r>
              <a:rPr lang="en-US" sz="2800" dirty="0"/>
              <a:t>Displays the detected face with bounding boxes for quick verification.</a:t>
            </a:r>
            <a:endParaRPr dirty="0"/>
          </a:p>
          <a:p>
            <a:pPr marL="0" lvl="0" indent="0" algn="l" rtl="0">
              <a:spcBef>
                <a:spcPts val="0"/>
              </a:spcBef>
              <a:spcAft>
                <a:spcPts val="0"/>
              </a:spcAft>
              <a:buNone/>
            </a:pPr>
            <a:endParaRPr sz="2800" dirty="0"/>
          </a:p>
          <a:p>
            <a:pPr marL="571500" lvl="0" indent="-342900" algn="l" rtl="0">
              <a:spcBef>
                <a:spcPts val="0"/>
              </a:spcBef>
              <a:spcAft>
                <a:spcPts val="0"/>
              </a:spcAft>
              <a:buClr>
                <a:srgbClr val="202020"/>
              </a:buClr>
              <a:buSzPts val="3600"/>
              <a:buFont typeface="Arial"/>
              <a:buNone/>
            </a:pPr>
            <a:endParaRPr sz="3600" dirty="0">
              <a:solidFill>
                <a:schemeClr val="dk1"/>
              </a:solidFill>
            </a:endParaRPr>
          </a:p>
          <a:p>
            <a:pPr marL="0" lvl="0" indent="0" algn="l" rtl="0">
              <a:spcBef>
                <a:spcPts val="0"/>
              </a:spcBef>
              <a:spcAft>
                <a:spcPts val="0"/>
              </a:spcAft>
              <a:buNone/>
            </a:pP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7"/>
          <p:cNvSpPr txBox="1">
            <a:spLocks noGrp="1"/>
          </p:cNvSpPr>
          <p:nvPr>
            <p:ph type="title"/>
          </p:nvPr>
        </p:nvSpPr>
        <p:spPr>
          <a:xfrm>
            <a:off x="931570" y="201625"/>
            <a:ext cx="10229951" cy="615553"/>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US" sz="4000" dirty="0"/>
              <a:t>Output:</a:t>
            </a:r>
            <a:endParaRPr sz="4000" dirty="0"/>
          </a:p>
        </p:txBody>
      </p:sp>
      <p:sp>
        <p:nvSpPr>
          <p:cNvPr id="211" name="Google Shape;211;p27"/>
          <p:cNvSpPr txBox="1"/>
          <p:nvPr/>
        </p:nvSpPr>
        <p:spPr>
          <a:xfrm>
            <a:off x="1565384" y="5934670"/>
            <a:ext cx="9061229" cy="646331"/>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a:p>
            <a:pPr marL="0" lvl="0" indent="0" algn="l" rtl="0">
              <a:spcBef>
                <a:spcPts val="0"/>
              </a:spcBef>
              <a:spcAft>
                <a:spcPts val="0"/>
              </a:spcAft>
              <a:buNone/>
            </a:pPr>
            <a:endParaRPr sz="1800"/>
          </a:p>
        </p:txBody>
      </p:sp>
      <p:pic>
        <p:nvPicPr>
          <p:cNvPr id="3" name="Picture 2">
            <a:extLst>
              <a:ext uri="{FF2B5EF4-FFF2-40B4-BE49-F238E27FC236}">
                <a16:creationId xmlns:a16="http://schemas.microsoft.com/office/drawing/2014/main" id="{DB620CE8-5152-B906-A828-21692428D6DC}"/>
              </a:ext>
            </a:extLst>
          </p:cNvPr>
          <p:cNvPicPr>
            <a:picLocks noChangeAspect="1"/>
          </p:cNvPicPr>
          <p:nvPr/>
        </p:nvPicPr>
        <p:blipFill>
          <a:blip r:embed="rId3"/>
          <a:stretch>
            <a:fillRect/>
          </a:stretch>
        </p:blipFill>
        <p:spPr>
          <a:xfrm>
            <a:off x="1081548" y="934064"/>
            <a:ext cx="9360310" cy="54974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215"/>
        <p:cNvGrpSpPr/>
        <p:nvPr/>
      </p:nvGrpSpPr>
      <p:grpSpPr>
        <a:xfrm>
          <a:off x="0" y="0"/>
          <a:ext cx="0" cy="0"/>
          <a:chOff x="0" y="0"/>
          <a:chExt cx="0" cy="0"/>
        </a:xfrm>
      </p:grpSpPr>
      <p:sp>
        <p:nvSpPr>
          <p:cNvPr id="216" name="Google Shape;216;p28"/>
          <p:cNvSpPr txBox="1"/>
          <p:nvPr/>
        </p:nvSpPr>
        <p:spPr>
          <a:xfrm>
            <a:off x="1143000" y="1676400"/>
            <a:ext cx="10124440" cy="3408354"/>
          </a:xfrm>
          <a:prstGeom prst="rect">
            <a:avLst/>
          </a:prstGeom>
          <a:noFill/>
          <a:ln>
            <a:noFill/>
          </a:ln>
        </p:spPr>
        <p:txBody>
          <a:bodyPr spcFirstLastPara="1" wrap="square" lIns="0" tIns="46975" rIns="0" bIns="0" anchor="t" anchorCtr="0">
            <a:spAutoFit/>
          </a:bodyPr>
          <a:lstStyle/>
          <a:p>
            <a:pPr marL="12067" marR="5715" lvl="0" algn="just" rtl="0">
              <a:lnSpc>
                <a:spcPct val="120000"/>
              </a:lnSpc>
              <a:spcBef>
                <a:spcPts val="0"/>
              </a:spcBef>
              <a:spcAft>
                <a:spcPts val="0"/>
              </a:spcAft>
              <a:buSzPts val="2600"/>
            </a:pPr>
            <a:r>
              <a:rPr lang="en-US" sz="2600" dirty="0">
                <a:latin typeface="Times New Roman"/>
                <a:ea typeface="Times New Roman"/>
                <a:cs typeface="Times New Roman"/>
                <a:sym typeface="Times New Roman"/>
              </a:rPr>
              <a:t>	The  Missing  Person  Finder  system  improves  the  search  for  missing individuals by utilizing AI and web technologies. It automates the analysis of CCTV footage through frame extraction and face recognition, greatly reducing search time and effort. The  integration  of  deep  learning  models  enhances  the  accuracy  of identifying individuals in videos. It also streamlines the search process thereby increasing the chances of successful matches, ultimately facilitating quicker resolutions in missing person cases.</a:t>
            </a:r>
            <a:endParaRPr sz="2600" dirty="0">
              <a:latin typeface="Times New Roman"/>
              <a:ea typeface="Times New Roman"/>
              <a:cs typeface="Times New Roman"/>
              <a:sym typeface="Times New Roman"/>
            </a:endParaRPr>
          </a:p>
        </p:txBody>
      </p:sp>
      <p:sp>
        <p:nvSpPr>
          <p:cNvPr id="217" name="Google Shape;217;p28"/>
          <p:cNvSpPr txBox="1">
            <a:spLocks noGrp="1"/>
          </p:cNvSpPr>
          <p:nvPr>
            <p:ph type="title"/>
          </p:nvPr>
        </p:nvSpPr>
        <p:spPr>
          <a:xfrm>
            <a:off x="3804120" y="466674"/>
            <a:ext cx="4802199" cy="69532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4400" dirty="0"/>
              <a:t>CONCLUSION</a:t>
            </a:r>
            <a:endParaRPr sz="4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17;p28">
            <a:extLst>
              <a:ext uri="{FF2B5EF4-FFF2-40B4-BE49-F238E27FC236}">
                <a16:creationId xmlns:a16="http://schemas.microsoft.com/office/drawing/2014/main" id="{E409A070-5F1E-AF01-B603-0C19F525E1D0}"/>
              </a:ext>
            </a:extLst>
          </p:cNvPr>
          <p:cNvSpPr txBox="1">
            <a:spLocks noGrp="1"/>
          </p:cNvSpPr>
          <p:nvPr>
            <p:ph type="title"/>
          </p:nvPr>
        </p:nvSpPr>
        <p:spPr>
          <a:xfrm>
            <a:off x="901382" y="520710"/>
            <a:ext cx="10229850" cy="689276"/>
          </a:xfrm>
          <a:prstGeom prst="rect">
            <a:avLst/>
          </a:prstGeom>
          <a:noFill/>
          <a:ln>
            <a:noFill/>
          </a:ln>
        </p:spPr>
        <p:txBody>
          <a:bodyPr spcFirstLastPara="1" wrap="square" lIns="0" tIns="12050" rIns="0" bIns="0" anchor="t" anchorCtr="0">
            <a:spAutoFit/>
          </a:bodyPr>
          <a:lstStyle/>
          <a:p>
            <a:pPr marL="12700" lvl="0" indent="0" algn="ctr" rtl="0">
              <a:lnSpc>
                <a:spcPct val="100000"/>
              </a:lnSpc>
              <a:spcBef>
                <a:spcPts val="0"/>
              </a:spcBef>
              <a:spcAft>
                <a:spcPts val="0"/>
              </a:spcAft>
              <a:buNone/>
            </a:pPr>
            <a:r>
              <a:rPr lang="en-US" sz="4400" dirty="0"/>
              <a:t>FUTURE WORK</a:t>
            </a:r>
            <a:endParaRPr sz="4400" dirty="0"/>
          </a:p>
        </p:txBody>
      </p:sp>
      <p:sp>
        <p:nvSpPr>
          <p:cNvPr id="8" name="Text Placeholder 7">
            <a:extLst>
              <a:ext uri="{FF2B5EF4-FFF2-40B4-BE49-F238E27FC236}">
                <a16:creationId xmlns:a16="http://schemas.microsoft.com/office/drawing/2014/main" id="{DE90C4CE-0FC7-D8A9-8AFF-13CA43F2E4D9}"/>
              </a:ext>
            </a:extLst>
          </p:cNvPr>
          <p:cNvSpPr>
            <a:spLocks noGrp="1"/>
          </p:cNvSpPr>
          <p:nvPr>
            <p:ph type="body" idx="1"/>
          </p:nvPr>
        </p:nvSpPr>
        <p:spPr>
          <a:xfrm>
            <a:off x="454584" y="1669981"/>
            <a:ext cx="10978032" cy="3034677"/>
          </a:xfrm>
        </p:spPr>
        <p:txBody>
          <a:bodyPr/>
          <a:lstStyle/>
          <a:p>
            <a:pPr marL="432000" algn="just">
              <a:lnSpc>
                <a:spcPct val="120000"/>
              </a:lnSpc>
              <a:spcBef>
                <a:spcPts val="1200"/>
              </a:spcBef>
            </a:pPr>
            <a:r>
              <a:rPr lang="en-US" sz="2600" dirty="0">
                <a:solidFill>
                  <a:srgbClr val="000000"/>
                </a:solidFill>
                <a:sym typeface="Arial"/>
              </a:rPr>
              <a:t>		Future enhancements include the development of age-invariant face recognition, enabling identification even as individuals age. Additionally, a more advanced notification system could integrate chatbots, SMS, WhatsApp, and email alerts for immediate reporting. These upgrades will turn the system into a real-time, scalable, and highly accurate solution for identifying missing persons, greatly enhancing law enforcement and public safety efforts.</a:t>
            </a:r>
            <a:endParaRPr lang="en-IN" sz="2600" dirty="0">
              <a:solidFill>
                <a:srgbClr val="000000"/>
              </a:solidFill>
              <a:sym typeface="Arial"/>
            </a:endParaRPr>
          </a:p>
        </p:txBody>
      </p:sp>
    </p:spTree>
    <p:extLst>
      <p:ext uri="{BB962C8B-B14F-4D97-AF65-F5344CB8AC3E}">
        <p14:creationId xmlns:p14="http://schemas.microsoft.com/office/powerpoint/2010/main" val="8792704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F5288-0B46-0789-744D-EEED4C457756}"/>
              </a:ext>
            </a:extLst>
          </p:cNvPr>
          <p:cNvSpPr>
            <a:spLocks noGrp="1"/>
          </p:cNvSpPr>
          <p:nvPr>
            <p:ph type="title"/>
          </p:nvPr>
        </p:nvSpPr>
        <p:spPr>
          <a:xfrm>
            <a:off x="931570" y="201625"/>
            <a:ext cx="10229951" cy="553998"/>
          </a:xfrm>
        </p:spPr>
        <p:txBody>
          <a:bodyPr/>
          <a:lstStyle/>
          <a:p>
            <a:pPr algn="ctr"/>
            <a:r>
              <a:rPr lang="en-US" dirty="0"/>
              <a:t>REFERENCES</a:t>
            </a:r>
            <a:endParaRPr lang="en-IN" dirty="0"/>
          </a:p>
        </p:txBody>
      </p:sp>
      <p:sp>
        <p:nvSpPr>
          <p:cNvPr id="3" name="Text Placeholder 2">
            <a:extLst>
              <a:ext uri="{FF2B5EF4-FFF2-40B4-BE49-F238E27FC236}">
                <a16:creationId xmlns:a16="http://schemas.microsoft.com/office/drawing/2014/main" id="{224D2C68-C8BC-8E84-B065-1FDE915B11CD}"/>
              </a:ext>
            </a:extLst>
          </p:cNvPr>
          <p:cNvSpPr>
            <a:spLocks noGrp="1"/>
          </p:cNvSpPr>
          <p:nvPr>
            <p:ph type="body" idx="1"/>
          </p:nvPr>
        </p:nvSpPr>
        <p:spPr>
          <a:xfrm>
            <a:off x="799160" y="1094886"/>
            <a:ext cx="10817199" cy="5663089"/>
          </a:xfrm>
        </p:spPr>
        <p:txBody>
          <a:bodyPr/>
          <a:lstStyle/>
          <a:p>
            <a:pPr algn="just"/>
            <a:r>
              <a:rPr lang="en-IN" sz="1600" dirty="0"/>
              <a:t>[1] M. Bharathwaj, K. Pravalika, Y. Keerthi, G Alekhya “Missing Child Identification using Deep learning”, 2021 IJCRT</a:t>
            </a:r>
          </a:p>
          <a:p>
            <a:pPr algn="just"/>
            <a:r>
              <a:rPr lang="en-IN" sz="1600" dirty="0"/>
              <a:t>[2] Sanskar Pawar, Lalit </a:t>
            </a:r>
            <a:r>
              <a:rPr lang="en-IN" sz="1600" dirty="0" err="1"/>
              <a:t>Bhadane</a:t>
            </a:r>
            <a:r>
              <a:rPr lang="en-IN" sz="1600" dirty="0"/>
              <a:t>, Amanullah Shaikh, Atharv </a:t>
            </a:r>
            <a:r>
              <a:rPr lang="en-IN" sz="1600" dirty="0" err="1"/>
              <a:t>Kumbhejkar</a:t>
            </a:r>
            <a:r>
              <a:rPr lang="en-IN" sz="1600" dirty="0"/>
              <a:t>, Swati </a:t>
            </a:r>
            <a:r>
              <a:rPr lang="en-IN" sz="1600" dirty="0" err="1"/>
              <a:t>Jakkan</a:t>
            </a:r>
            <a:r>
              <a:rPr lang="en-IN" sz="1600" dirty="0"/>
              <a:t>, “Find Missing Person using Artificial Intelligence”, 2021 International Research Journal of Engineering and Technology (IRJET)</a:t>
            </a:r>
          </a:p>
          <a:p>
            <a:pPr algn="just"/>
            <a:r>
              <a:rPr lang="en-IN" sz="1600" dirty="0"/>
              <a:t>[3] </a:t>
            </a:r>
            <a:r>
              <a:rPr lang="en-IN" sz="1600" b="1" dirty="0"/>
              <a:t>A. Ponmalar, B. Sandhiya, M. Bhuvaneswari, M. Gayathri, GKR Bhavana, S Aarthi, " Finding Missing Person Using Artificial Intelligence", 2022 IEEE Xplore</a:t>
            </a:r>
          </a:p>
          <a:p>
            <a:pPr algn="just"/>
            <a:r>
              <a:rPr lang="en-IN" sz="1600" dirty="0"/>
              <a:t>[4] Ms. Neha </a:t>
            </a:r>
            <a:r>
              <a:rPr lang="en-IN" sz="1600" dirty="0" err="1"/>
              <a:t>Ahirrao</a:t>
            </a:r>
            <a:r>
              <a:rPr lang="en-IN" sz="1600" dirty="0"/>
              <a:t>, Shreya Jade, Ms. Siddhi Jagtap, Prof. </a:t>
            </a:r>
            <a:r>
              <a:rPr lang="en-IN" sz="1600" dirty="0" err="1"/>
              <a:t>Namarata.D.Ghuse</a:t>
            </a:r>
            <a:r>
              <a:rPr lang="en-IN" sz="1600" dirty="0"/>
              <a:t>, Dr. Mangesh </a:t>
            </a:r>
            <a:r>
              <a:rPr lang="en-IN" sz="1600" dirty="0" err="1"/>
              <a:t>Ghonge</a:t>
            </a:r>
            <a:r>
              <a:rPr lang="en-IN" sz="1600" dirty="0"/>
              <a:t>, Dr. </a:t>
            </a:r>
            <a:r>
              <a:rPr lang="en-IN" sz="1600" dirty="0" err="1"/>
              <a:t>Amol.D.Potgantwar</a:t>
            </a:r>
            <a:r>
              <a:rPr lang="en-IN" sz="1600" dirty="0"/>
              <a:t>, “A Review on Identification of Missing Persons and Criminals using Image Processing”, 2022 International Journal of Creative Research Thoughts (IJCRT)</a:t>
            </a:r>
          </a:p>
          <a:p>
            <a:pPr algn="just"/>
            <a:r>
              <a:rPr lang="en-IN" sz="1600" dirty="0"/>
              <a:t>[5] B. </a:t>
            </a:r>
            <a:r>
              <a:rPr lang="en-IN" sz="1600" dirty="0" err="1"/>
              <a:t>Vinavatani</a:t>
            </a:r>
            <a:r>
              <a:rPr lang="en-IN" sz="1600" dirty="0"/>
              <a:t>, Medha Rachel Panna, Premila H Singha, G. </a:t>
            </a:r>
            <a:r>
              <a:rPr lang="en-IN" sz="1600" dirty="0" err="1"/>
              <a:t>Jaspher</a:t>
            </a:r>
            <a:r>
              <a:rPr lang="en-IN" sz="1600" dirty="0"/>
              <a:t> Willsie Kathrine, “AI for Detection of Missing Person”, 2022 IEEE Xplore</a:t>
            </a:r>
          </a:p>
          <a:p>
            <a:pPr algn="just"/>
            <a:r>
              <a:rPr lang="en-IN" sz="1600" dirty="0"/>
              <a:t>[6] </a:t>
            </a:r>
            <a:r>
              <a:rPr lang="en-IN" sz="1600" dirty="0" err="1"/>
              <a:t>R.Brinda</a:t>
            </a:r>
            <a:r>
              <a:rPr lang="en-IN" sz="1600" dirty="0"/>
              <a:t>, </a:t>
            </a:r>
            <a:r>
              <a:rPr lang="en-IN" sz="1600" dirty="0" err="1"/>
              <a:t>M.Bhavani</a:t>
            </a:r>
            <a:r>
              <a:rPr lang="en-IN" sz="1600" dirty="0"/>
              <a:t>, </a:t>
            </a:r>
            <a:r>
              <a:rPr lang="en-IN" sz="1600" dirty="0" err="1"/>
              <a:t>S.Ramalingam</a:t>
            </a:r>
            <a:r>
              <a:rPr lang="en-IN" sz="1600" dirty="0"/>
              <a:t>, “IoT Smart Tracking Device for Missing Person Finder (Women/Child) using ESP32 AI camera and GPS”, 2022 IEEE Xplore</a:t>
            </a:r>
          </a:p>
          <a:p>
            <a:pPr algn="just"/>
            <a:r>
              <a:rPr lang="en-IN" sz="1600" dirty="0"/>
              <a:t>[7] G. Srikanth, </a:t>
            </a:r>
            <a:r>
              <a:rPr lang="en-IN" sz="1600" dirty="0" err="1"/>
              <a:t>Adurti</a:t>
            </a:r>
            <a:r>
              <a:rPr lang="en-IN" sz="1600" dirty="0"/>
              <a:t> Swarnalatha, </a:t>
            </a:r>
            <a:r>
              <a:rPr lang="en-IN" sz="1600" dirty="0" err="1"/>
              <a:t>Thalari</a:t>
            </a:r>
            <a:r>
              <a:rPr lang="en-IN" sz="1600" dirty="0"/>
              <a:t> Abhishek, Ravula Sai Akhil Patel, </a:t>
            </a:r>
            <a:r>
              <a:rPr lang="en-IN" sz="1600" dirty="0" err="1"/>
              <a:t>Thalari</a:t>
            </a:r>
            <a:r>
              <a:rPr lang="en-IN" sz="1600" dirty="0"/>
              <a:t> Swamy, “Missing Person Identification using Machine Learning with Python”, 2022 International Journal for Research in Applied Science and Engineering Technology (IJRASET)</a:t>
            </a:r>
          </a:p>
          <a:p>
            <a:pPr algn="just"/>
            <a:r>
              <a:rPr lang="en-IN" sz="1600" dirty="0"/>
              <a:t>[8] Mayank Kumar Singh; Pooja Verma; Ajay Shanker Singh; Anandhan. K," Implementation of Machine Learning and KNN Algorithm for Finding Missing Person", 2022 IEEE Xplore</a:t>
            </a:r>
          </a:p>
          <a:p>
            <a:pPr algn="just"/>
            <a:r>
              <a:rPr lang="en-IN" sz="1600" dirty="0"/>
              <a:t>[9] Mohan Datta </a:t>
            </a:r>
            <a:r>
              <a:rPr lang="en-IN" sz="1600" dirty="0" err="1"/>
              <a:t>Inavolu</a:t>
            </a:r>
            <a:r>
              <a:rPr lang="en-IN" sz="1600" dirty="0"/>
              <a:t>, Deepa Venna, Guru Vamsi </a:t>
            </a:r>
            <a:r>
              <a:rPr lang="en-IN" sz="1600" dirty="0" err="1"/>
              <a:t>Kallepalli</a:t>
            </a:r>
            <a:r>
              <a:rPr lang="en-IN" sz="1600" dirty="0"/>
              <a:t>, Sarat Satya </a:t>
            </a:r>
            <a:r>
              <a:rPr lang="en-IN" sz="1600" dirty="0" err="1"/>
              <a:t>Surapaneni,"Detection</a:t>
            </a:r>
            <a:r>
              <a:rPr lang="en-IN" sz="1600" dirty="0"/>
              <a:t> of Missing Persons Using Mobile App", 2023 IEEE Xplore</a:t>
            </a:r>
          </a:p>
          <a:p>
            <a:pPr algn="just"/>
            <a:r>
              <a:rPr lang="en-IN" sz="1600" dirty="0"/>
              <a:t>[10] Vijaya </a:t>
            </a:r>
            <a:r>
              <a:rPr lang="en-IN" sz="1600" dirty="0" err="1"/>
              <a:t>Kaspate</a:t>
            </a:r>
            <a:r>
              <a:rPr lang="en-IN" sz="1600" dirty="0"/>
              <a:t>, Pratima Patil, Onkar </a:t>
            </a:r>
            <a:r>
              <a:rPr lang="en-IN" sz="1600" dirty="0" err="1"/>
              <a:t>Ekre</a:t>
            </a:r>
            <a:r>
              <a:rPr lang="en-IN" sz="1600" dirty="0"/>
              <a:t>, Akansha </a:t>
            </a:r>
            <a:r>
              <a:rPr lang="en-IN" sz="1600" dirty="0" err="1"/>
              <a:t>Mirgane</a:t>
            </a:r>
            <a:r>
              <a:rPr lang="en-IN" sz="1600" dirty="0"/>
              <a:t>, “Detection of Missing People using Artificial Intelligence”, 2023 Journal of Emerging Technologies and Innovative Research (JETIR)</a:t>
            </a:r>
          </a:p>
          <a:p>
            <a:pPr algn="just"/>
            <a:endParaRPr lang="en-IN" sz="1600" dirty="0"/>
          </a:p>
          <a:p>
            <a:pPr algn="just"/>
            <a:endParaRPr lang="en-IN" sz="1600" dirty="0"/>
          </a:p>
        </p:txBody>
      </p:sp>
    </p:spTree>
    <p:extLst>
      <p:ext uri="{BB962C8B-B14F-4D97-AF65-F5344CB8AC3E}">
        <p14:creationId xmlns:p14="http://schemas.microsoft.com/office/powerpoint/2010/main" val="36795108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EF20398-3946-01D9-8891-9D744EC845FB}"/>
              </a:ext>
            </a:extLst>
          </p:cNvPr>
          <p:cNvSpPr>
            <a:spLocks noGrp="1"/>
          </p:cNvSpPr>
          <p:nvPr>
            <p:ph type="body" idx="1"/>
          </p:nvPr>
        </p:nvSpPr>
        <p:spPr>
          <a:xfrm>
            <a:off x="687399" y="1158823"/>
            <a:ext cx="10817199" cy="5416868"/>
          </a:xfrm>
        </p:spPr>
        <p:txBody>
          <a:bodyPr/>
          <a:lstStyle/>
          <a:p>
            <a:pPr algn="just"/>
            <a:r>
              <a:rPr lang="en-IN" sz="1600" dirty="0"/>
              <a:t>[11] Aditya., Ankesh Raj, Affan J., Aniket Aman, Sreevidya B.S, “Finding Missing Person Using AI”, 2023 International Journal for Research in Applied Science and Engineering Technology (IJRASET)</a:t>
            </a:r>
          </a:p>
          <a:p>
            <a:pPr algn="just"/>
            <a:r>
              <a:rPr lang="en-IN" sz="1600" dirty="0"/>
              <a:t>[12] Dr. Sharda A. Chhabria, Prof. Rahul </a:t>
            </a:r>
            <a:r>
              <a:rPr lang="en-IN" sz="1600" dirty="0" err="1"/>
              <a:t>Suryawanshi</a:t>
            </a:r>
            <a:r>
              <a:rPr lang="en-IN" sz="1600" dirty="0"/>
              <a:t>, </a:t>
            </a:r>
            <a:r>
              <a:rPr lang="en-IN" sz="1600" dirty="0" err="1"/>
              <a:t>Nivedi</a:t>
            </a:r>
            <a:r>
              <a:rPr lang="en-IN" sz="1600" dirty="0"/>
              <a:t> </a:t>
            </a:r>
            <a:r>
              <a:rPr lang="en-IN" sz="1600" dirty="0" err="1"/>
              <a:t>Dufare</a:t>
            </a:r>
            <a:r>
              <a:rPr lang="en-IN" sz="1600" dirty="0"/>
              <a:t>, Sayali Shastrakar, Omkar Ghodke, “Find Missing Person using Haar Cascade”, 2023 International Journal for Research in Applied Science and Engineering Technology (IJRASET)</a:t>
            </a:r>
          </a:p>
          <a:p>
            <a:pPr algn="just"/>
            <a:r>
              <a:rPr lang="en-IN" sz="1600" dirty="0"/>
              <a:t>[13] Ashwin Late, Jatin </a:t>
            </a:r>
            <a:r>
              <a:rPr lang="en-IN" sz="1600" dirty="0" err="1"/>
              <a:t>Natekar</a:t>
            </a:r>
            <a:r>
              <a:rPr lang="en-IN" sz="1600" dirty="0"/>
              <a:t>, Zaid Khan, Sahil Thakare, Dr. Neeraj Sharma, “Missing Person Identification System”, 2023 International Journal of Creative Research Thoughts (IJCRT)</a:t>
            </a:r>
          </a:p>
          <a:p>
            <a:pPr algn="just"/>
            <a:r>
              <a:rPr lang="en-IN" sz="1600" dirty="0"/>
              <a:t>[14] </a:t>
            </a:r>
            <a:r>
              <a:rPr lang="en-IN" sz="1600" dirty="0" err="1"/>
              <a:t>Dr.Golagani.A</a:t>
            </a:r>
            <a:r>
              <a:rPr lang="en-IN" sz="1600" dirty="0"/>
              <a:t> V R C Rao, B. Jayasri, G. Sai Sruthi, B. Rohit, D. Gowtham Sampath Sai, “Face detection and tracking to find missing person using </a:t>
            </a:r>
            <a:r>
              <a:rPr lang="en-IN" sz="1600" dirty="0" err="1"/>
              <a:t>Haarcascade</a:t>
            </a:r>
            <a:r>
              <a:rPr lang="en-IN" sz="1600" dirty="0"/>
              <a:t> algorithm”, 2023 International Journal for Research Trends and Innovation (IJRTI)</a:t>
            </a:r>
          </a:p>
          <a:p>
            <a:pPr algn="just"/>
            <a:r>
              <a:rPr lang="en-IN" sz="1600" dirty="0"/>
              <a:t>[15] </a:t>
            </a:r>
            <a:r>
              <a:rPr lang="en-IN" sz="1600" dirty="0" err="1"/>
              <a:t>Mageswaran</a:t>
            </a:r>
            <a:r>
              <a:rPr lang="en-IN" sz="1600" dirty="0"/>
              <a:t> S, Siva Kumar C, Prasanth G, Sundaram M, “Finding Missing Person Based on Face Recognition Using AI in Video Surveillance System”, 2023 International Journal for Research in Applied Science and Engineering Technology (IJRASET)</a:t>
            </a:r>
          </a:p>
          <a:p>
            <a:pPr algn="just"/>
            <a:r>
              <a:rPr lang="en-IN" sz="1600" dirty="0"/>
              <a:t>[16] Divyansh Yadav, Janhvi Tyagi, Dipanshu, Ritu Tiwari, Ms. Pawan Pandey, “Finding Missing Person/Child Using AI”, 2023 International Journal of Research Publication and Reviews</a:t>
            </a:r>
          </a:p>
          <a:p>
            <a:pPr algn="just"/>
            <a:r>
              <a:rPr lang="en-IN" sz="1600" dirty="0"/>
              <a:t>[17] </a:t>
            </a:r>
            <a:r>
              <a:rPr lang="en-IN" sz="1600" dirty="0" err="1"/>
              <a:t>Hrutika</a:t>
            </a:r>
            <a:r>
              <a:rPr lang="en-IN" sz="1600" dirty="0"/>
              <a:t> </a:t>
            </a:r>
            <a:r>
              <a:rPr lang="en-IN" sz="1600" dirty="0" err="1"/>
              <a:t>Gawas</a:t>
            </a:r>
            <a:r>
              <a:rPr lang="en-IN" sz="1600" dirty="0"/>
              <a:t>, P. K </a:t>
            </a:r>
            <a:r>
              <a:rPr lang="en-IN" sz="1600" dirty="0" err="1"/>
              <a:t>Suryawanshi</a:t>
            </a:r>
            <a:r>
              <a:rPr lang="en-IN" sz="1600" dirty="0"/>
              <a:t>, Shweta </a:t>
            </a:r>
            <a:r>
              <a:rPr lang="en-IN" sz="1600" dirty="0" err="1"/>
              <a:t>Gujarathi</a:t>
            </a:r>
            <a:r>
              <a:rPr lang="en-IN" sz="1600" dirty="0"/>
              <a:t>, Riya Gurumukhi, “AI based missing person detection with CNN”, 2024 International Research Journal of Modernization in Engineering Technology and Science (IRJMET) </a:t>
            </a:r>
          </a:p>
          <a:p>
            <a:pPr algn="just"/>
            <a:r>
              <a:rPr lang="en-IN" sz="1600" dirty="0"/>
              <a:t>[18] </a:t>
            </a:r>
            <a:r>
              <a:rPr lang="en-IN" sz="1600" dirty="0" err="1"/>
              <a:t>Shriyash</a:t>
            </a:r>
            <a:r>
              <a:rPr lang="en-IN" sz="1600" dirty="0"/>
              <a:t> Kapse, Pradip Ghadge, Vikas </a:t>
            </a:r>
            <a:r>
              <a:rPr lang="en-IN" sz="1600" dirty="0" err="1"/>
              <a:t>Virkar</a:t>
            </a:r>
            <a:r>
              <a:rPr lang="en-IN" sz="1600" dirty="0"/>
              <a:t>, Prasad Shinde, Krishna Patil, "Finding missing people using ML", 2024 International Journal of Creative Research Thoughts (IJCRT)</a:t>
            </a:r>
          </a:p>
          <a:p>
            <a:pPr algn="just"/>
            <a:r>
              <a:rPr lang="en-IN" sz="1600" dirty="0"/>
              <a:t>[19] Dr. J. Aruna Devi, </a:t>
            </a:r>
            <a:r>
              <a:rPr lang="en-IN" sz="1600" dirty="0" err="1"/>
              <a:t>Sagineti</a:t>
            </a:r>
            <a:r>
              <a:rPr lang="en-IN" sz="1600" dirty="0"/>
              <a:t> Lasya Priya, </a:t>
            </a:r>
            <a:r>
              <a:rPr lang="en-IN" sz="1600" dirty="0" err="1"/>
              <a:t>Vangalapudi</a:t>
            </a:r>
            <a:r>
              <a:rPr lang="en-IN" sz="1600" dirty="0"/>
              <a:t> Jeshitha, Sanjeevani </a:t>
            </a:r>
            <a:r>
              <a:rPr lang="en-IN" sz="1600" dirty="0" err="1"/>
              <a:t>Boddapati</a:t>
            </a:r>
            <a:r>
              <a:rPr lang="en-IN" sz="1600" dirty="0"/>
              <a:t>, </a:t>
            </a:r>
            <a:r>
              <a:rPr lang="en-IN" sz="1600" dirty="0" err="1"/>
              <a:t>Yendamuri</a:t>
            </a:r>
            <a:r>
              <a:rPr lang="en-IN" sz="1600" dirty="0"/>
              <a:t> Ganesh, </a:t>
            </a:r>
            <a:r>
              <a:rPr lang="en-IN" sz="1600" dirty="0" err="1"/>
              <a:t>Ratnala</a:t>
            </a:r>
            <a:r>
              <a:rPr lang="en-IN" sz="1600" dirty="0"/>
              <a:t> Mohan Krishna, "Locating missing persons using AI &amp; ML", 2024 Journal of Nonlinear Analysis and Optimization</a:t>
            </a:r>
          </a:p>
          <a:p>
            <a:pPr algn="just"/>
            <a:r>
              <a:rPr lang="en-IN" sz="1600" dirty="0"/>
              <a:t>[20] Mrs Prasanna N, </a:t>
            </a:r>
            <a:r>
              <a:rPr lang="en-IN" sz="1600" dirty="0" err="1"/>
              <a:t>Pathipati</a:t>
            </a:r>
            <a:r>
              <a:rPr lang="en-IN" sz="1600" dirty="0"/>
              <a:t> Harshitha, Monali B </a:t>
            </a:r>
            <a:r>
              <a:rPr lang="en-IN" sz="1600" dirty="0" err="1"/>
              <a:t>Pipaliya</a:t>
            </a:r>
            <a:r>
              <a:rPr lang="en-IN" sz="1600" dirty="0"/>
              <a:t>, Gagan R, “Finding the Missing Person Using Artificial Intelligence”, 2024 International Journal of Scientific Research and Engineering Development </a:t>
            </a:r>
          </a:p>
          <a:p>
            <a:endParaRPr lang="en-IN" sz="1600" dirty="0"/>
          </a:p>
        </p:txBody>
      </p:sp>
      <p:sp>
        <p:nvSpPr>
          <p:cNvPr id="4" name="Title 1">
            <a:extLst>
              <a:ext uri="{FF2B5EF4-FFF2-40B4-BE49-F238E27FC236}">
                <a16:creationId xmlns:a16="http://schemas.microsoft.com/office/drawing/2014/main" id="{49653276-DBAE-3E6F-7A5F-8F7EEF34FB60}"/>
              </a:ext>
            </a:extLst>
          </p:cNvPr>
          <p:cNvSpPr>
            <a:spLocks noGrp="1"/>
          </p:cNvSpPr>
          <p:nvPr>
            <p:ph type="title"/>
          </p:nvPr>
        </p:nvSpPr>
        <p:spPr>
          <a:xfrm>
            <a:off x="981074" y="160973"/>
            <a:ext cx="10229850" cy="553998"/>
          </a:xfrm>
        </p:spPr>
        <p:txBody>
          <a:bodyPr/>
          <a:lstStyle/>
          <a:p>
            <a:pPr algn="ctr"/>
            <a:r>
              <a:rPr lang="en-US" dirty="0"/>
              <a:t>REFERENCES Contd..</a:t>
            </a:r>
            <a:endParaRPr lang="en-IN" dirty="0"/>
          </a:p>
        </p:txBody>
      </p:sp>
    </p:spTree>
    <p:extLst>
      <p:ext uri="{BB962C8B-B14F-4D97-AF65-F5344CB8AC3E}">
        <p14:creationId xmlns:p14="http://schemas.microsoft.com/office/powerpoint/2010/main" val="37443386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86EBC-92BF-2415-1C6E-7F05B7892042}"/>
              </a:ext>
            </a:extLst>
          </p:cNvPr>
          <p:cNvSpPr>
            <a:spLocks noGrp="1"/>
          </p:cNvSpPr>
          <p:nvPr>
            <p:ph type="title"/>
          </p:nvPr>
        </p:nvSpPr>
        <p:spPr>
          <a:xfrm>
            <a:off x="931570" y="201625"/>
            <a:ext cx="10229951" cy="553998"/>
          </a:xfrm>
        </p:spPr>
        <p:txBody>
          <a:bodyPr/>
          <a:lstStyle/>
          <a:p>
            <a:pPr algn="ctr"/>
            <a:r>
              <a:rPr lang="en-US" dirty="0"/>
              <a:t>CERTIFICATES</a:t>
            </a:r>
            <a:endParaRPr lang="en-IN" dirty="0"/>
          </a:p>
        </p:txBody>
      </p:sp>
      <p:pic>
        <p:nvPicPr>
          <p:cNvPr id="8" name="Picture 7">
            <a:extLst>
              <a:ext uri="{FF2B5EF4-FFF2-40B4-BE49-F238E27FC236}">
                <a16:creationId xmlns:a16="http://schemas.microsoft.com/office/drawing/2014/main" id="{E02D5248-00C2-62D8-AEB7-DC3B1DB67C65}"/>
              </a:ext>
            </a:extLst>
          </p:cNvPr>
          <p:cNvPicPr>
            <a:picLocks noChangeAspect="1"/>
          </p:cNvPicPr>
          <p:nvPr/>
        </p:nvPicPr>
        <p:blipFill>
          <a:blip r:embed="rId2"/>
          <a:stretch>
            <a:fillRect/>
          </a:stretch>
        </p:blipFill>
        <p:spPr>
          <a:xfrm>
            <a:off x="772160" y="1577340"/>
            <a:ext cx="5008880" cy="4526280"/>
          </a:xfrm>
          <a:prstGeom prst="rect">
            <a:avLst/>
          </a:prstGeom>
        </p:spPr>
      </p:pic>
      <p:pic>
        <p:nvPicPr>
          <p:cNvPr id="10" name="Picture 9">
            <a:extLst>
              <a:ext uri="{FF2B5EF4-FFF2-40B4-BE49-F238E27FC236}">
                <a16:creationId xmlns:a16="http://schemas.microsoft.com/office/drawing/2014/main" id="{3F57A0D6-3A83-8157-FD4A-288CD2147624}"/>
              </a:ext>
            </a:extLst>
          </p:cNvPr>
          <p:cNvPicPr>
            <a:picLocks noChangeAspect="1"/>
          </p:cNvPicPr>
          <p:nvPr/>
        </p:nvPicPr>
        <p:blipFill>
          <a:blip r:embed="rId3"/>
          <a:stretch>
            <a:fillRect/>
          </a:stretch>
        </p:blipFill>
        <p:spPr>
          <a:xfrm>
            <a:off x="6207760" y="1577340"/>
            <a:ext cx="5374640" cy="4526281"/>
          </a:xfrm>
          <a:prstGeom prst="rect">
            <a:avLst/>
          </a:prstGeom>
        </p:spPr>
      </p:pic>
    </p:spTree>
    <p:extLst>
      <p:ext uri="{BB962C8B-B14F-4D97-AF65-F5344CB8AC3E}">
        <p14:creationId xmlns:p14="http://schemas.microsoft.com/office/powerpoint/2010/main" val="18713280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221"/>
        <p:cNvGrpSpPr/>
        <p:nvPr/>
      </p:nvGrpSpPr>
      <p:grpSpPr>
        <a:xfrm>
          <a:off x="0" y="0"/>
          <a:ext cx="0" cy="0"/>
          <a:chOff x="0" y="0"/>
          <a:chExt cx="0" cy="0"/>
        </a:xfrm>
      </p:grpSpPr>
      <p:sp>
        <p:nvSpPr>
          <p:cNvPr id="222" name="Google Shape;222;p29"/>
          <p:cNvSpPr txBox="1">
            <a:spLocks noGrp="1"/>
          </p:cNvSpPr>
          <p:nvPr>
            <p:ph type="title"/>
          </p:nvPr>
        </p:nvSpPr>
        <p:spPr>
          <a:xfrm>
            <a:off x="2952369" y="2582316"/>
            <a:ext cx="7489489" cy="12446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0" dirty="0"/>
              <a:t>THANK YOU</a:t>
            </a:r>
            <a:endParaRPr sz="80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508</TotalTime>
  <Words>2454</Words>
  <Application>Microsoft Office PowerPoint</Application>
  <PresentationFormat>Widescreen</PresentationFormat>
  <Paragraphs>209</Paragraphs>
  <Slides>27</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Times New Roman</vt:lpstr>
      <vt:lpstr>Office Theme</vt:lpstr>
      <vt:lpstr>PowerPoint Presentation</vt:lpstr>
      <vt:lpstr>OVERVIEW</vt:lpstr>
      <vt:lpstr>LITERATURE SURVEY</vt:lpstr>
      <vt:lpstr>LITERATURE SURVEY Contd...</vt:lpstr>
      <vt:lpstr>PROBLEM STATEMENT</vt:lpstr>
      <vt:lpstr>OBJECTIVES</vt:lpstr>
      <vt:lpstr>INTRODUCTION</vt:lpstr>
      <vt:lpstr>PROPOSED SYSTEM</vt:lpstr>
      <vt:lpstr>TECHNICAL SPECIFICATIONS</vt:lpstr>
      <vt:lpstr>METHODOLOGY</vt:lpstr>
      <vt:lpstr>BLOCK DIAGRAM</vt:lpstr>
      <vt:lpstr>             Module 1:  Web Portal Development </vt:lpstr>
      <vt:lpstr>                 Output for Web Portal Development </vt:lpstr>
      <vt:lpstr>Module 2: Video Frame Extraction</vt:lpstr>
      <vt:lpstr>Module 2 Contd..</vt:lpstr>
      <vt:lpstr>Output for converting video to frame</vt:lpstr>
      <vt:lpstr>Module 3: Deep Learning Model Implementation</vt:lpstr>
      <vt:lpstr>Module 3 Contd..</vt:lpstr>
      <vt:lpstr>Output for facial recognition</vt:lpstr>
      <vt:lpstr> Module 4:  Notification System</vt:lpstr>
      <vt:lpstr>Output:</vt:lpstr>
      <vt:lpstr>CONCLUSION</vt:lpstr>
      <vt:lpstr>FUTURE WORK</vt:lpstr>
      <vt:lpstr>REFERENCES</vt:lpstr>
      <vt:lpstr>REFERENCES Contd..</vt:lpstr>
      <vt:lpstr>CERTIFICATES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Harshini avs</dc:creator>
  <cp:lastModifiedBy>Avanthika K S</cp:lastModifiedBy>
  <cp:revision>26</cp:revision>
  <dcterms:created xsi:type="dcterms:W3CDTF">2024-12-18T15:24:01Z</dcterms:created>
  <dcterms:modified xsi:type="dcterms:W3CDTF">2025-04-16T05:34:52Z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2024-10-28T00:00:00Z</vt:filetime>
  </property>
  <property fmtid="{D5CDD505-2E9C-101B-9397-08002B2CF9AE}" pid="3" name="Creator">
    <vt:lpwstr>Microsoft® PowerPoint® 2016</vt:lpwstr>
  </property>
  <property fmtid="{D5CDD505-2E9C-101B-9397-08002B2CF9AE}" pid="4" name="LastSaved">
    <vt:filetime>2024-12-18T00:00:00Z</vt:filetime>
  </property>
  <property fmtid="{D5CDD505-2E9C-101B-9397-08002B2CF9AE}" pid="5" name="Producer">
    <vt:lpwstr>www.ilovepdf.com</vt:lpwstr>
  </property>
</Properties>
</file>